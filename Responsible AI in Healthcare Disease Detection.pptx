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9"/>
  </p:notesMasterIdLst>
  <p:sldIdLst>
    <p:sldId id="256" r:id="rId3"/>
    <p:sldId id="257" r:id="rId4"/>
    <p:sldId id="258" r:id="rId5"/>
    <p:sldId id="259" r:id="rId6"/>
    <p:sldId id="260" r:id="rId7"/>
    <p:sldId id="261" r:id="rId8"/>
  </p:sldIdLst>
  <p:sldSz cx="16256000" cy="9144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4" d="100"/>
          <a:sy n="44" d="100"/>
        </p:scale>
        <p:origin x="940" y="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05.06.2026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Good day everyone. Today, I will be presenting on Responsible AI Principles and the Model Development Life Cycle using a healthcare AI system for early disease detection as a case study.</a:t>
            </a:r>
            <a:br>
              <a:rPr lang="en-US" sz="1400" b="0" i="0" u="none" strike="noStrike">
                <a:solidFill>
                  <a:srgbClr val="000000"/>
                </a:solidFill>
              </a:rPr>
            </a:br>
            <a:r>
              <a:rPr lang="en-US" sz="1400" b="0" i="0" u="none" strike="noStrike">
                <a:solidFill>
                  <a:srgbClr val="000000"/>
                </a:solidFill>
              </a:rPr>
              <a:t>Artificial Intelligence is increasingly being used in healthcare to help doctors identify diseases earlier and make better decisions. However, AI must be developed responsibly to ensure that it is fair, safe, transparent, and trustworthy. In this presentation, I will explain how responsible AI principles can be applied throughout the development life cycle of a healthcare AI system."</a:t>
            </a:r>
          </a:p>
          <a:p>
            <a:pPr indent="0" algn="l">
              <a:lnSpc>
                <a:spcPct val="100000"/>
              </a:lnSpc>
            </a:pPr>
            <a:br>
              <a:rPr lang="en-US" sz="1400" b="0" i="0" u="none" strike="noStrike">
                <a:solidFill>
                  <a:srgbClr val="000000"/>
                </a:solidFill>
              </a:rPr>
            </a:br>
            <a:br>
              <a:rPr lang="en-US" sz="1400" b="0" i="0" u="none" strike="noStrike">
                <a:solidFill>
                  <a:srgbClr val="000000"/>
                </a:solidFill>
              </a:rPr>
            </a:b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hypothetical AI application I selected is an Early Disease Detection System.</a:t>
            </a:r>
          </a:p>
          <a:p>
            <a:pPr indent="0" algn="l">
              <a:lnSpc>
                <a:spcPct val="100000"/>
              </a:lnSpc>
            </a:pPr>
            <a:br>
              <a:rPr lang="en-US" sz="1400" b="0" i="0" u="none" strike="noStrike">
                <a:solidFill>
                  <a:srgbClr val="000000"/>
                </a:solidFill>
              </a:rPr>
            </a:br>
            <a:r>
              <a:rPr lang="en-US" sz="1400" b="0" i="0" u="none" strike="noStrike">
                <a:solidFill>
                  <a:srgbClr val="000000"/>
                </a:solidFill>
              </a:rPr>
              <a:t>The goal of this system is to analyze patient information, medical records, and laboratory test results to predict diseases at an early stage. This can help healthcare professionals provide treatment sooner and improve patient outcomes.</a:t>
            </a:r>
          </a:p>
          <a:p>
            <a:pPr indent="0" algn="l">
              <a:lnSpc>
                <a:spcPct val="100000"/>
              </a:lnSpc>
            </a:pPr>
            <a:br>
              <a:rPr lang="en-US" sz="1400" b="0" i="0" u="none" strike="noStrike">
                <a:solidFill>
                  <a:srgbClr val="000000"/>
                </a:solidFill>
              </a:rPr>
            </a:br>
            <a:r>
              <a:rPr lang="en-US" sz="1400" b="0" i="0" u="none" strike="noStrike">
                <a:solidFill>
                  <a:srgbClr val="000000"/>
                </a:solidFill>
              </a:rPr>
              <a:t>To develop this system, we follow the model development life cycle, which includes problem definition, data collection, data preparation, model development, evaluation, deployment, and continuous monitoring.</a:t>
            </a:r>
            <a:br>
              <a:rPr lang="en-US" sz="1400" b="0" i="0" u="none" strike="noStrike">
                <a:solidFill>
                  <a:srgbClr val="000000"/>
                </a:solidFill>
              </a:rPr>
            </a:br>
            <a:r>
              <a:rPr lang="en-US" sz="1400" b="0" i="0" u="none" strike="noStrike">
                <a:solidFill>
                  <a:srgbClr val="000000"/>
                </a:solidFill>
              </a:rPr>
              <a:t>Responsible AI principles should be integrated into every one of these stages."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There are several important responsible AI principles that guide the development of ethical AI systems.</a:t>
            </a:r>
          </a:p>
          <a:p>
            <a:pPr indent="0" algn="l">
              <a:lnSpc>
                <a:spcPct val="100000"/>
              </a:lnSpc>
            </a:pPr>
            <a:br>
              <a:rPr lang="en-US" sz="1400" b="0" i="0" u="none" strike="noStrike">
                <a:solidFill>
                  <a:srgbClr val="000000"/>
                </a:solidFill>
              </a:rPr>
            </a:br>
            <a:r>
              <a:rPr lang="en-US" sz="1400" b="0" i="0" u="none" strike="noStrike">
                <a:solidFill>
                  <a:srgbClr val="000000"/>
                </a:solidFill>
              </a:rPr>
              <a:t>The first is fairness, which ensures that the AI treats all patients equally and does not discriminate against any group.</a:t>
            </a:r>
          </a:p>
          <a:p>
            <a:pPr indent="0" algn="l">
              <a:lnSpc>
                <a:spcPct val="100000"/>
              </a:lnSpc>
            </a:pPr>
            <a:br>
              <a:rPr lang="en-US" sz="1400" b="0" i="0" u="none" strike="noStrike">
                <a:solidFill>
                  <a:srgbClr val="000000"/>
                </a:solidFill>
              </a:rPr>
            </a:br>
            <a:r>
              <a:rPr lang="en-US" sz="1400" b="0" i="0" u="none" strike="noStrike">
                <a:solidFill>
                  <a:srgbClr val="000000"/>
                </a:solidFill>
              </a:rPr>
              <a:t>The second is transparency and explainability. Doctors and patients should understand how the AI arrived at its prediction.</a:t>
            </a:r>
          </a:p>
          <a:p>
            <a:pPr indent="0" algn="l">
              <a:lnSpc>
                <a:spcPct val="100000"/>
              </a:lnSpc>
            </a:pPr>
            <a:br>
              <a:rPr lang="en-US" sz="1400" b="0" i="0" u="none" strike="noStrike">
                <a:solidFill>
                  <a:srgbClr val="000000"/>
                </a:solidFill>
              </a:rPr>
            </a:br>
            <a:r>
              <a:rPr lang="en-US" sz="1400" b="0" i="0" u="none" strike="noStrike">
                <a:solidFill>
                  <a:srgbClr val="000000"/>
                </a:solidFill>
              </a:rPr>
              <a:t>The third principle is privacy and security. Since healthcare data contains sensitive information, it must be protected from unauthorized access.</a:t>
            </a:r>
          </a:p>
          <a:p>
            <a:pPr indent="0" algn="l">
              <a:lnSpc>
                <a:spcPct val="100000"/>
              </a:lnSpc>
            </a:pPr>
            <a:br>
              <a:rPr lang="en-US" sz="1400" b="0" i="0" u="none" strike="noStrike">
                <a:solidFill>
                  <a:srgbClr val="000000"/>
                </a:solidFill>
              </a:rPr>
            </a:br>
            <a:r>
              <a:rPr lang="en-US" sz="1400" b="0" i="0" u="none" strike="noStrike">
                <a:solidFill>
                  <a:srgbClr val="000000"/>
                </a:solidFill>
              </a:rPr>
              <a:t>Another principle is accountability. Human healthcare professionals remain responsible for final decisions and cannot rely entirely on AI.</a:t>
            </a:r>
          </a:p>
          <a:p>
            <a:pPr indent="0" algn="l">
              <a:lnSpc>
                <a:spcPct val="100000"/>
              </a:lnSpc>
            </a:pPr>
            <a:br>
              <a:rPr lang="en-US" sz="1400" b="0" i="0" u="none" strike="noStrike">
                <a:solidFill>
                  <a:srgbClr val="000000"/>
                </a:solidFill>
              </a:rPr>
            </a:br>
            <a:r>
              <a:rPr lang="en-US" sz="1400" b="0" i="0" u="none" strike="noStrike">
                <a:solidFill>
                  <a:srgbClr val="000000"/>
                </a:solidFill>
              </a:rPr>
              <a:t>Finally, reliability and safety ensure that the AI produces accurate and consistent results that support patient care."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Responsible AI should be applied throughout the entire development process.</a:t>
            </a:r>
          </a:p>
          <a:p>
            <a:pPr indent="0" algn="l">
              <a:lnSpc>
                <a:spcPct val="100000"/>
              </a:lnSpc>
            </a:pPr>
            <a:br>
              <a:rPr lang="en-US" sz="1400" b="0" i="0" u="none" strike="noStrike">
                <a:solidFill>
                  <a:srgbClr val="000000"/>
                </a:solidFill>
              </a:rPr>
            </a:br>
            <a:r>
              <a:rPr lang="en-US" sz="1400" b="0" i="0" u="none" strike="noStrike">
                <a:solidFill>
                  <a:srgbClr val="000000"/>
                </a:solidFill>
              </a:rPr>
              <a:t>During problem definition, developers identify ethical concerns and patient needs.</a:t>
            </a:r>
          </a:p>
          <a:p>
            <a:pPr indent="0" algn="l">
              <a:lnSpc>
                <a:spcPct val="100000"/>
              </a:lnSpc>
            </a:pPr>
            <a:br>
              <a:rPr lang="en-US" sz="1400" b="0" i="0" u="none" strike="noStrike">
                <a:solidFill>
                  <a:srgbClr val="000000"/>
                </a:solidFill>
              </a:rPr>
            </a:br>
            <a:r>
              <a:rPr lang="en-US" sz="1400" b="0" i="0" u="none" strike="noStrike">
                <a:solidFill>
                  <a:srgbClr val="000000"/>
                </a:solidFill>
              </a:rPr>
              <a:t>During data collection, patient consent should be obtained, and diverse data should be collected to avoid bias.</a:t>
            </a:r>
          </a:p>
          <a:p>
            <a:pPr indent="0" algn="l">
              <a:lnSpc>
                <a:spcPct val="100000"/>
              </a:lnSpc>
            </a:pPr>
            <a:br>
              <a:rPr lang="en-US" sz="1400" b="0" i="0" u="none" strike="noStrike">
                <a:solidFill>
                  <a:srgbClr val="000000"/>
                </a:solidFill>
              </a:rPr>
            </a:br>
            <a:r>
              <a:rPr lang="en-US" sz="1400" b="0" i="0" u="none" strike="noStrike">
                <a:solidFill>
                  <a:srgbClr val="000000"/>
                </a:solidFill>
              </a:rPr>
              <a:t>During data preparation, inaccurate or biased information should be removed.</a:t>
            </a:r>
          </a:p>
          <a:p>
            <a:pPr indent="0" algn="l">
              <a:lnSpc>
                <a:spcPct val="100000"/>
              </a:lnSpc>
            </a:pPr>
            <a:br>
              <a:rPr lang="en-US" sz="1400" b="0" i="0" u="none" strike="noStrike">
                <a:solidFill>
                  <a:srgbClr val="000000"/>
                </a:solidFill>
              </a:rPr>
            </a:br>
            <a:r>
              <a:rPr lang="en-US" sz="1400" b="0" i="0" u="none" strike="noStrike">
                <a:solidFill>
                  <a:srgbClr val="000000"/>
                </a:solidFill>
              </a:rPr>
              <a:t>During model development, developers should use explainable algorithms and test for fairness.</a:t>
            </a:r>
          </a:p>
          <a:p>
            <a:pPr indent="0" algn="l">
              <a:lnSpc>
                <a:spcPct val="100000"/>
              </a:lnSpc>
            </a:pPr>
            <a:br>
              <a:rPr lang="en-US" sz="1400" b="0" i="0" u="none" strike="noStrike">
                <a:solidFill>
                  <a:srgbClr val="000000"/>
                </a:solidFill>
              </a:rPr>
            </a:br>
            <a:r>
              <a:rPr lang="en-US" sz="1400" b="0" i="0" u="none" strike="noStrike">
                <a:solidFill>
                  <a:srgbClr val="000000"/>
                </a:solidFill>
              </a:rPr>
              <a:t>Before deployment, the model should be evaluated to ensure it performs well across different patient groups.</a:t>
            </a:r>
          </a:p>
          <a:p>
            <a:pPr indent="0" algn="l">
              <a:lnSpc>
                <a:spcPct val="100000"/>
              </a:lnSpc>
            </a:pPr>
            <a:br>
              <a:rPr lang="en-US" sz="1400" b="0" i="0" u="none" strike="noStrike">
                <a:solidFill>
                  <a:srgbClr val="000000"/>
                </a:solidFill>
              </a:rPr>
            </a:br>
            <a:r>
              <a:rPr lang="en-US" sz="1400" b="0" i="0" u="none" strike="noStrike">
                <a:solidFill>
                  <a:srgbClr val="000000"/>
                </a:solidFill>
              </a:rPr>
              <a:t>After deployment, continuous monitoring is necessary to detect bias, errors, or changes in performance over time."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"Although responsible AI offers many benefits, there are also challenges.</a:t>
            </a:r>
          </a:p>
          <a:p>
            <a:pPr indent="0" algn="l">
              <a:lnSpc>
                <a:spcPct val="100000"/>
              </a:lnSpc>
            </a:pPr>
            <a:br>
              <a:rPr lang="en-US" sz="1400" b="0" i="0" u="none" strike="noStrike">
                <a:solidFill>
                  <a:srgbClr val="000000"/>
                </a:solidFill>
              </a:rPr>
            </a:br>
            <a:r>
              <a:rPr lang="en-US" sz="1400" b="0" i="0" u="none" strike="noStrike">
                <a:solidFill>
                  <a:srgbClr val="000000"/>
                </a:solidFill>
              </a:rPr>
              <a:t>One challenge is data bias. If certain populations are underrepresented in the training data, the model may not work equally well for everyone.</a:t>
            </a:r>
          </a:p>
          <a:p>
            <a:pPr indent="0" algn="l">
              <a:lnSpc>
                <a:spcPct val="100000"/>
              </a:lnSpc>
            </a:pPr>
            <a:br>
              <a:rPr lang="en-US" sz="1400" b="0" i="0" u="none" strike="noStrike">
                <a:solidFill>
                  <a:srgbClr val="000000"/>
                </a:solidFill>
              </a:rPr>
            </a:br>
            <a:r>
              <a:rPr lang="en-US" sz="1400" b="0" i="0" u="none" strike="noStrike">
                <a:solidFill>
                  <a:srgbClr val="000000"/>
                </a:solidFill>
              </a:rPr>
              <a:t>Another challenge is protecting patient privacy because healthcare information is highly sensitive.</a:t>
            </a:r>
          </a:p>
          <a:p>
            <a:pPr indent="0" algn="l">
              <a:lnSpc>
                <a:spcPct val="100000"/>
              </a:lnSpc>
            </a:pPr>
            <a:br>
              <a:rPr lang="en-US" sz="1400" b="0" i="0" u="none" strike="noStrike">
                <a:solidFill>
                  <a:srgbClr val="000000"/>
                </a:solidFill>
              </a:rPr>
            </a:br>
            <a:r>
              <a:rPr lang="en-US" sz="1400" b="0" i="0" u="none" strike="noStrike">
                <a:solidFill>
                  <a:srgbClr val="000000"/>
                </a:solidFill>
              </a:rPr>
              <a:t>Explainability can also be difficult when using complex AI models.</a:t>
            </a:r>
          </a:p>
          <a:p>
            <a:pPr indent="0" algn="l">
              <a:lnSpc>
                <a:spcPct val="100000"/>
              </a:lnSpc>
            </a:pPr>
            <a:br>
              <a:rPr lang="en-US" sz="1400" b="0" i="0" u="none" strike="noStrike">
                <a:solidFill>
                  <a:srgbClr val="000000"/>
                </a:solidFill>
              </a:rPr>
            </a:br>
            <a:r>
              <a:rPr lang="en-US" sz="1400" b="0" i="0" u="none" strike="noStrike">
                <a:solidFill>
                  <a:srgbClr val="000000"/>
                </a:solidFill>
              </a:rPr>
              <a:t>In addition, healthcare organizations must comply with regulations and ethical standards.</a:t>
            </a:r>
          </a:p>
          <a:p>
            <a:pPr indent="0" algn="l">
              <a:lnSpc>
                <a:spcPct val="100000"/>
              </a:lnSpc>
            </a:pPr>
            <a:br>
              <a:rPr lang="en-US" sz="1400" b="0" i="0" u="none" strike="noStrike">
                <a:solidFill>
                  <a:srgbClr val="000000"/>
                </a:solidFill>
              </a:rPr>
            </a:br>
            <a:r>
              <a:rPr lang="en-US" sz="1400" b="0" i="0" u="none" strike="noStrike">
                <a:solidFill>
                  <a:srgbClr val="000000"/>
                </a:solidFill>
              </a:rPr>
              <a:t>Despite these challenges, responsible AI creates many opportunities. It can improve patient outcomes through early diagnosis, support doctors in making better decisions, increase efficiency, and build public trust in healthcare technologies."</a:t>
            </a:r>
          </a:p>
          <a:p>
            <a:pPr indent="0" algn="l">
              <a:lnSpc>
                <a:spcPct val="100000"/>
              </a:lnSpc>
            </a:pPr>
            <a:br>
              <a:rPr lang="en-US" sz="1400" b="0" i="0" u="none" strike="noStrike">
                <a:solidFill>
                  <a:srgbClr val="000000"/>
                </a:solidFill>
              </a:rPr>
            </a:br>
            <a:br>
              <a:rPr lang="en-US" sz="1400" b="0" i="0" u="none" strike="noStrike">
                <a:solidFill>
                  <a:srgbClr val="000000"/>
                </a:solidFill>
              </a:rPr>
            </a:br>
            <a:br>
              <a:rPr lang="en-US" sz="1400" b="0" i="0" u="none" strike="noStrike">
                <a:solidFill>
                  <a:srgbClr val="000000"/>
                </a:solidFill>
              </a:rPr>
            </a:b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In conclusion, responsible AI is essential for developing trustworthy healthcare systems.</a:t>
            </a:r>
          </a:p>
          <a:p>
            <a:pPr indent="0" algn="l">
              <a:lnSpc>
                <a:spcPct val="100000"/>
              </a:lnSpc>
            </a:pPr>
            <a:br>
              <a:rPr lang="en-US" sz="1400" b="0" i="0" u="none" strike="noStrike">
                <a:solidFill>
                  <a:srgbClr val="000000"/>
                </a:solidFill>
              </a:rPr>
            </a:br>
            <a:r>
              <a:rPr lang="en-US" sz="1400" b="0" i="0" u="none" strike="noStrike">
                <a:solidFill>
                  <a:srgbClr val="000000"/>
                </a:solidFill>
              </a:rPr>
              <a:t>By incorporating principles such as fairness, transparency, privacy, accountability, reliability, and security throughout the model development life cycle, organizations can create AI systems that benefit both patients and healthcare professionals.</a:t>
            </a:r>
          </a:p>
          <a:p>
            <a:pPr indent="0" algn="l">
              <a:lnSpc>
                <a:spcPct val="100000"/>
              </a:lnSpc>
            </a:pPr>
            <a:br>
              <a:rPr lang="en-US" sz="1400" b="0" i="0" u="none" strike="noStrike">
                <a:solidFill>
                  <a:srgbClr val="000000"/>
                </a:solidFill>
              </a:rPr>
            </a:br>
            <a:r>
              <a:rPr lang="en-US" sz="1400" b="0" i="0" u="none" strike="noStrike">
                <a:solidFill>
                  <a:srgbClr val="000000"/>
                </a:solidFill>
              </a:rPr>
              <a:t>The success of healthcare AI depends not only on its accuracy but also on its ability to operate ethically and responsibly.</a:t>
            </a:r>
          </a:p>
          <a:p>
            <a:pPr indent="0" algn="l">
              <a:lnSpc>
                <a:spcPct val="100000"/>
              </a:lnSpc>
            </a:pPr>
            <a:br>
              <a:rPr lang="en-US" sz="1400" b="0" i="0" u="none" strike="noStrike">
                <a:solidFill>
                  <a:srgbClr val="000000"/>
                </a:solidFill>
              </a:rPr>
            </a:br>
            <a:r>
              <a:rPr lang="en-US" sz="1400" b="0" i="0" u="none" strike="noStrike">
                <a:solidFill>
                  <a:srgbClr val="000000"/>
                </a:solidFill>
              </a:rPr>
              <a:t>Thank you for listening. I would be happy to answer any questions."</a:t>
            </a:r>
          </a:p>
          <a:p>
            <a:pPr indent="0" algn="l">
              <a:lnSpc>
                <a:spcPct val="100000"/>
              </a:lnSpc>
            </a:pPr>
            <a:br>
              <a:rPr lang="en-US" sz="1400" b="0" i="0" u="none" strike="noStrike">
                <a:solidFill>
                  <a:srgbClr val="000000"/>
                </a:solidFill>
              </a:rPr>
            </a:br>
            <a:br>
              <a:rPr lang="en-US" sz="1400" b="0" i="0" u="none" strike="noStrike">
                <a:solidFill>
                  <a:srgbClr val="000000"/>
                </a:solidFill>
              </a:rPr>
            </a:b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390" r="-390"/>
          </a:stretch>
        </a:blipFill>
        <a:effectLst/>
      </p:bgPr>
    </p:bg>
    <p:spTree>
      <p:nvGrpSpPr>
        <p:cNvPr id="1" name=""/>
        <p:cNvGrpSpPr/>
        <p:nvPr/>
      </p:nvGrpSpPr>
      <p:grpSpPr>
        <a:xfrm>
          <a:off x="0" y="0"/>
          <a:ext cx="0" cy="0"/>
          <a:chOff x="0" y="0"/>
          <a:chExt cx="0" cy="0"/>
        </a:xfrm>
      </p:grpSpPr>
      <p:sp>
        <p:nvSpPr>
          <p:cNvPr id="2" name="AutoShape 2"/>
          <p:cNvSpPr/>
          <p:nvPr/>
        </p:nvSpPr>
        <p:spPr>
          <a:xfrm>
            <a:off x="0" y="-1320800"/>
            <a:ext cx="16256000" cy="9144000"/>
          </a:xfrm>
          <a:prstGeom prst="roundRect">
            <a:avLst>
              <a:gd name="adj" fmla="val 0"/>
            </a:avLst>
          </a:prstGeom>
          <a:solidFill>
            <a:srgbClr val="0F172A">
              <a:alpha val="75000"/>
            </a:srgbClr>
          </a:solid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1016000" y="856343"/>
            <a:ext cx="14224000" cy="3106057"/>
          </a:xfrm>
          <a:prstGeom prst="rect">
            <a:avLst/>
          </a:prstGeom>
          <a:noFill/>
          <a:ln w="16933" cap="flat" cmpd="sng">
            <a:noFill/>
            <a:prstDash val="solid"/>
            <a:round/>
          </a:ln>
        </p:spPr>
        <p:txBody>
          <a:bodyPr vert="horz" wrap="square" lIns="0" tIns="0" rIns="0" bIns="0" rtlCol="0" anchor="ctr" anchorCtr="0">
            <a:normAutofit/>
          </a:bodyPr>
          <a:lstStyle/>
          <a:p>
            <a:pPr indent="0" algn="l">
              <a:lnSpc>
                <a:spcPct val="100000"/>
              </a:lnSpc>
              <a:defRPr/>
            </a:pPr>
            <a:r>
              <a:rPr lang="en-US" sz="5900" b="1" i="0" u="none" strike="noStrike" dirty="0">
                <a:solidFill>
                  <a:srgbClr val="F8FAFC"/>
                </a:solidFill>
                <a:latin typeface="Inter"/>
                <a:ea typeface="Inter"/>
                <a:cs typeface="Inter"/>
                <a:sym typeface="Inter"/>
              </a:rPr>
              <a:t>Responsible AI Principles</a:t>
            </a:r>
            <a:endParaRPr lang="en-US" sz="1100" dirty="0"/>
          </a:p>
          <a:p>
            <a:pPr indent="0" algn="l">
              <a:lnSpc>
                <a:spcPct val="100000"/>
              </a:lnSpc>
            </a:pPr>
            <a:r>
              <a:rPr lang="en-US" sz="5900" b="1" i="0" u="none" strike="noStrike" dirty="0">
                <a:solidFill>
                  <a:srgbClr val="94A3B8"/>
                </a:solidFill>
                <a:latin typeface="Inter"/>
                <a:ea typeface="Inter"/>
                <a:cs typeface="Inter"/>
                <a:sym typeface="Inter"/>
              </a:rPr>
              <a:t>and the Model Development Life Cycle</a:t>
            </a:r>
          </a:p>
        </p:txBody>
      </p:sp>
      <p:sp>
        <p:nvSpPr>
          <p:cNvPr id="4" name="AutoShape 4"/>
          <p:cNvSpPr/>
          <p:nvPr/>
        </p:nvSpPr>
        <p:spPr>
          <a:xfrm>
            <a:off x="1016000" y="5588000"/>
            <a:ext cx="1016000" cy="76200"/>
          </a:xfrm>
          <a:prstGeom prst="roundRect">
            <a:avLst>
              <a:gd name="adj" fmla="val 0"/>
            </a:avLst>
          </a:prstGeom>
          <a:solidFill>
            <a:srgbClr val="94A3B8">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5" name="AutoShape 5"/>
          <p:cNvSpPr/>
          <p:nvPr/>
        </p:nvSpPr>
        <p:spPr>
          <a:xfrm>
            <a:off x="1016000" y="4296229"/>
            <a:ext cx="14224000" cy="1215571"/>
          </a:xfrm>
          <a:prstGeom prst="rect">
            <a:avLst/>
          </a:prstGeom>
          <a:noFill/>
          <a:ln w="16933" cap="flat" cmpd="sng">
            <a:noFill/>
            <a:prstDash val="solid"/>
            <a:round/>
          </a:ln>
        </p:spPr>
        <p:txBody>
          <a:bodyPr vert="horz" wrap="square" lIns="0" tIns="0" rIns="0" bIns="0" rtlCol="0" anchor="ctr" anchorCtr="0">
            <a:normAutofit/>
          </a:bodyPr>
          <a:lstStyle/>
          <a:p>
            <a:pPr indent="0" algn="l">
              <a:lnSpc>
                <a:spcPct val="125000"/>
              </a:lnSpc>
              <a:defRPr/>
            </a:pPr>
            <a:r>
              <a:rPr lang="en-US" sz="3200" b="0" i="0" u="none" strike="noStrike" dirty="0">
                <a:solidFill>
                  <a:srgbClr val="CBD5E1"/>
                </a:solidFill>
                <a:latin typeface="Inter"/>
                <a:ea typeface="Inter"/>
                <a:cs typeface="Inter"/>
                <a:sym typeface="Inter"/>
              </a:rPr>
              <a:t>Healthcare AI for Early Disease Detection</a:t>
            </a:r>
            <a:endParaRPr lang="en-US" sz="1100" dirty="0"/>
          </a:p>
        </p:txBody>
      </p:sp>
      <p:sp>
        <p:nvSpPr>
          <p:cNvPr id="6" name="AutoShape 6"/>
          <p:cNvSpPr/>
          <p:nvPr/>
        </p:nvSpPr>
        <p:spPr>
          <a:xfrm>
            <a:off x="384891" y="5845629"/>
            <a:ext cx="15350373" cy="3005457"/>
          </a:xfrm>
          <a:prstGeom prst="rect">
            <a:avLst/>
          </a:prstGeom>
          <a:noFill/>
          <a:ln w="16933" cap="flat" cmpd="sng">
            <a:noFill/>
            <a:prstDash val="solid"/>
            <a:round/>
          </a:ln>
        </p:spPr>
        <p:txBody>
          <a:bodyPr vert="horz" wrap="square" lIns="0" tIns="0" rIns="0" bIns="0" rtlCol="0" anchor="ctr" anchorCtr="0">
            <a:normAutofit/>
          </a:bodyPr>
          <a:lstStyle/>
          <a:p>
            <a:pPr indent="0" algn="l">
              <a:lnSpc>
                <a:spcPct val="116666"/>
              </a:lnSpc>
              <a:defRPr/>
            </a:pPr>
            <a:r>
              <a:rPr lang="en-US" sz="2000" b="0" i="0" u="none" strike="noStrike" dirty="0">
                <a:solidFill>
                  <a:srgbClr val="94A3B8"/>
                </a:solidFill>
                <a:latin typeface="Open Sans"/>
                <a:ea typeface="Open Sans"/>
                <a:cs typeface="Open Sans"/>
                <a:sym typeface="Open Sans"/>
              </a:rPr>
              <a:t>Ajibola Kazeem</a:t>
            </a:r>
            <a:endParaRPr lang="en-US" sz="1100" dirty="0"/>
          </a:p>
          <a:p>
            <a:pPr indent="0" algn="l">
              <a:lnSpc>
                <a:spcPct val="116666"/>
              </a:lnSpc>
            </a:pPr>
            <a:r>
              <a:rPr lang="en-US" sz="2000">
                <a:solidFill>
                  <a:srgbClr val="94A3B8"/>
                </a:solidFill>
                <a:latin typeface="Open Sans"/>
                <a:ea typeface="Open Sans"/>
                <a:cs typeface="Open Sans"/>
                <a:sym typeface="Open Sans"/>
              </a:rPr>
              <a:t>H</a:t>
            </a:r>
            <a:r>
              <a:rPr lang="en-US" sz="2000" b="0" i="0" u="none" strike="noStrike">
                <a:solidFill>
                  <a:srgbClr val="94A3B8"/>
                </a:solidFill>
                <a:latin typeface="Open Sans"/>
                <a:ea typeface="Open Sans"/>
                <a:cs typeface="Open Sans"/>
                <a:sym typeface="Open Sans"/>
              </a:rPr>
              <a:t>areesh Babu Mathi</a:t>
            </a:r>
            <a:endParaRPr lang="en-US" sz="2000" b="0" i="0" u="none" strike="noStrike" dirty="0">
              <a:solidFill>
                <a:srgbClr val="94A3B8"/>
              </a:solidFill>
              <a:latin typeface="Open Sans"/>
              <a:ea typeface="Open Sans"/>
              <a:cs typeface="Open Sans"/>
              <a:sym typeface="Open Sans"/>
            </a:endParaRPr>
          </a:p>
          <a:p>
            <a:pPr indent="0" algn="l">
              <a:lnSpc>
                <a:spcPct val="116666"/>
              </a:lnSpc>
            </a:pPr>
            <a:r>
              <a:rPr lang="en-US" sz="2000" b="0" i="0" u="none" strike="noStrike" dirty="0">
                <a:solidFill>
                  <a:srgbClr val="94A3B8"/>
                </a:solidFill>
                <a:latin typeface="Open Sans"/>
                <a:ea typeface="Open Sans"/>
                <a:cs typeface="Open Sans"/>
                <a:sym typeface="Open Sans"/>
              </a:rPr>
              <a:t>Senthil</a:t>
            </a:r>
          </a:p>
          <a:p>
            <a:pPr indent="0" algn="l">
              <a:lnSpc>
                <a:spcPct val="116666"/>
              </a:lnSpc>
            </a:pPr>
            <a:r>
              <a:rPr lang="en-US" sz="2000" b="0" i="0" u="none" strike="noStrike" dirty="0" err="1">
                <a:solidFill>
                  <a:srgbClr val="94A3B8"/>
                </a:solidFill>
                <a:latin typeface="Open Sans"/>
                <a:ea typeface="Open Sans"/>
                <a:cs typeface="Open Sans"/>
                <a:sym typeface="Open Sans"/>
              </a:rPr>
              <a:t>Khariska</a:t>
            </a:r>
            <a:endParaRPr lang="en-US" sz="2000" b="0" i="0" u="none" strike="noStrike" dirty="0">
              <a:solidFill>
                <a:srgbClr val="94A3B8"/>
              </a:solidFill>
              <a:latin typeface="Open Sans"/>
              <a:ea typeface="Open Sans"/>
              <a:cs typeface="Open Sans"/>
              <a:sym typeface="Open Sans"/>
            </a:endParaRPr>
          </a:p>
          <a:p>
            <a:pPr indent="0" algn="l">
              <a:lnSpc>
                <a:spcPct val="116666"/>
              </a:lnSpc>
            </a:pPr>
            <a:r>
              <a:rPr lang="en-US" sz="2000" b="0" i="0" u="none" strike="noStrike" dirty="0">
                <a:solidFill>
                  <a:srgbClr val="94A3B8"/>
                </a:solidFill>
                <a:latin typeface="Open Sans"/>
                <a:ea typeface="Open Sans"/>
                <a:cs typeface="Open Sans"/>
                <a:sym typeface="Open Sans"/>
              </a:rPr>
              <a:t> | Responsible AI and Ethics | June 5,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4224000" cy="762000"/>
          </a:xfrm>
          <a:prstGeom prst="rect">
            <a:avLst/>
          </a:prstGeom>
          <a:noFill/>
          <a:ln w="16933" cap="flat" cmpd="sng">
            <a:noFill/>
            <a:prstDash val="solid"/>
            <a:round/>
          </a:ln>
        </p:spPr>
        <p:txBody>
          <a:bodyPr vert="horz" wrap="square" lIns="0" tIns="0" rIns="0" bIns="0" rtlCol="0" anchor="ctr" anchorCtr="0">
            <a:normAutofit/>
          </a:bodyPr>
          <a:lstStyle/>
          <a:p>
            <a:pPr indent="0" algn="l">
              <a:lnSpc>
                <a:spcPct val="108333"/>
              </a:lnSpc>
              <a:defRPr/>
            </a:pPr>
            <a:r>
              <a:rPr lang="en-US" sz="4400" b="1" i="0" u="none" strike="noStrike">
                <a:solidFill>
                  <a:srgbClr val="F8FAFC"/>
                </a:solidFill>
                <a:latin typeface="Inter"/>
                <a:ea typeface="Inter"/>
                <a:cs typeface="Inter"/>
                <a:sym typeface="Inter"/>
              </a:rPr>
              <a:t>AI-Powered Early Disease Detection</a:t>
            </a:r>
            <a:endParaRPr lang="en-US" sz="1100"/>
          </a:p>
        </p:txBody>
      </p:sp>
      <p:sp>
        <p:nvSpPr>
          <p:cNvPr id="3" name="AutoShape 3"/>
          <p:cNvSpPr/>
          <p:nvPr/>
        </p:nvSpPr>
        <p:spPr>
          <a:xfrm>
            <a:off x="1016000" y="1651000"/>
            <a:ext cx="14224000" cy="25400"/>
          </a:xfrm>
          <a:prstGeom prst="roundRect">
            <a:avLst>
              <a:gd name="adj" fmla="val 0"/>
            </a:avLst>
          </a:prstGeom>
          <a:solidFill>
            <a:srgbClr val="94A3B8">
              <a:alpha val="30000"/>
            </a:srgbClr>
          </a:solidFill>
          <a:ln w="25400" cap="flat" cmpd="sng">
            <a:noFill/>
            <a:prstDash val="solid"/>
            <a:round/>
          </a:ln>
        </p:spPr>
        <p:txBody>
          <a:bodyPr vert="horz" wrap="square" lIns="0" tIns="0" rIns="0" bIns="0" rtlCol="0" anchor="ctr" anchorCtr="0"/>
          <a:lstStyle/>
          <a:p>
            <a:pPr algn="ctr">
              <a:defRPr/>
            </a:pPr>
            <a:endParaRPr/>
          </a:p>
        </p:txBody>
      </p:sp>
      <p:sp>
        <p:nvSpPr>
          <p:cNvPr id="4" name="AutoShape 4"/>
          <p:cNvSpPr/>
          <p:nvPr/>
        </p:nvSpPr>
        <p:spPr>
          <a:xfrm>
            <a:off x="1016000" y="2286000"/>
            <a:ext cx="4318000" cy="5842000"/>
          </a:xfrm>
          <a:prstGeom prst="roundRect">
            <a:avLst>
              <a:gd name="adj" fmla="val 1764"/>
            </a:avLst>
          </a:prstGeom>
          <a:solidFill>
            <a:srgbClr val="1E293B">
              <a:alpha val="80000"/>
            </a:srgbClr>
          </a:solidFill>
          <a:ln w="12700" cap="flat" cmpd="sng">
            <a:solidFill>
              <a:srgbClr val="94A3B8">
                <a:alpha val="20000"/>
              </a:srgbClr>
            </a:solidFill>
            <a:prstDash val="solid"/>
            <a:round/>
          </a:ln>
          <a:effectLst>
            <a:outerShdw blurRad="152400" dist="50800" dir="2700000" algn="tl" rotWithShape="0">
              <a:srgbClr val="000000">
                <a:alpha val="20000"/>
              </a:srgbClr>
            </a:outerShdw>
          </a:effectLst>
        </p:spPr>
        <p:txBody>
          <a:bodyPr vert="horz" wrap="square" lIns="381000" tIns="508000" rIns="381000" bIns="508000" rtlCol="0" anchor="ctr" anchorCtr="0">
            <a:normAutofit/>
          </a:bodyPr>
          <a:lstStyle/>
          <a:p>
            <a:pPr indent="0" algn="ctr">
              <a:lnSpc>
                <a:spcPct val="125000"/>
              </a:lnSpc>
              <a:spcBef>
                <a:spcPts val="1000"/>
              </a:spcBef>
              <a:defRPr/>
            </a:pPr>
            <a:r>
              <a:rPr lang="en-US" sz="2400" b="1" i="0" u="none" strike="noStrike">
                <a:solidFill>
                  <a:srgbClr val="F8FAFC"/>
                </a:solidFill>
                <a:latin typeface="Inter"/>
                <a:ea typeface="Inter"/>
                <a:cs typeface="Inter"/>
                <a:sym typeface="Inter"/>
              </a:rPr>
              <a:t>System Purpose</a:t>
            </a:r>
            <a:endParaRPr lang="en-US" sz="1100"/>
          </a:p>
          <a:p>
            <a:pPr indent="0" algn="ctr">
              <a:lnSpc>
                <a:spcPct val="125000"/>
              </a:lnSpc>
              <a:spcBef>
                <a:spcPts val="3000"/>
              </a:spcBef>
            </a:pPr>
            <a:r>
              <a:rPr lang="en-US" sz="1800" b="1" i="0" u="none" strike="noStrike">
                <a:solidFill>
                  <a:srgbClr val="94A3B8"/>
                </a:solidFill>
                <a:latin typeface="Open Sans"/>
                <a:ea typeface="Open Sans"/>
                <a:cs typeface="Open Sans"/>
                <a:sym typeface="Open Sans"/>
              </a:rPr>
              <a:t>1. Analyze</a:t>
            </a:r>
          </a:p>
          <a:p>
            <a:pPr indent="0" algn="ctr">
              <a:lnSpc>
                <a:spcPct val="125000"/>
              </a:lnSpc>
            </a:pPr>
            <a:r>
              <a:rPr lang="en-US" sz="1800" b="0" i="0" u="none" strike="noStrike">
                <a:solidFill>
                  <a:srgbClr val="CBD5E1"/>
                </a:solidFill>
                <a:latin typeface="Open Sans"/>
                <a:ea typeface="Open Sans"/>
                <a:cs typeface="Open Sans"/>
                <a:sym typeface="Open Sans"/>
              </a:rPr>
              <a:t>Patient health records and medical test results.</a:t>
            </a:r>
          </a:p>
          <a:p>
            <a:pPr indent="0" algn="ctr">
              <a:lnSpc>
                <a:spcPct val="125000"/>
              </a:lnSpc>
              <a:spcBef>
                <a:spcPts val="2000"/>
              </a:spcBef>
            </a:pPr>
            <a:r>
              <a:rPr lang="en-US" sz="1800" b="1" i="0" u="none" strike="noStrike">
                <a:solidFill>
                  <a:srgbClr val="94A3B8"/>
                </a:solidFill>
                <a:latin typeface="Open Sans"/>
                <a:ea typeface="Open Sans"/>
                <a:cs typeface="Open Sans"/>
                <a:sym typeface="Open Sans"/>
              </a:rPr>
              <a:t>2. Predict</a:t>
            </a:r>
          </a:p>
          <a:p>
            <a:pPr indent="0" algn="ctr">
              <a:lnSpc>
                <a:spcPct val="125000"/>
              </a:lnSpc>
            </a:pPr>
            <a:r>
              <a:rPr lang="en-US" sz="1800" b="0" i="0" u="none" strike="noStrike">
                <a:solidFill>
                  <a:srgbClr val="CBD5E1"/>
                </a:solidFill>
                <a:latin typeface="Open Sans"/>
                <a:ea typeface="Open Sans"/>
                <a:cs typeface="Open Sans"/>
                <a:sym typeface="Open Sans"/>
              </a:rPr>
              <a:t>The likelihood of diseases at an early stage.</a:t>
            </a:r>
          </a:p>
          <a:p>
            <a:pPr indent="0" algn="ctr">
              <a:lnSpc>
                <a:spcPct val="125000"/>
              </a:lnSpc>
              <a:spcBef>
                <a:spcPts val="2000"/>
              </a:spcBef>
            </a:pPr>
            <a:r>
              <a:rPr lang="en-US" sz="1800" b="1" i="0" u="none" strike="noStrike">
                <a:solidFill>
                  <a:srgbClr val="94A3B8"/>
                </a:solidFill>
                <a:latin typeface="Open Sans"/>
                <a:ea typeface="Open Sans"/>
                <a:cs typeface="Open Sans"/>
                <a:sym typeface="Open Sans"/>
              </a:rPr>
              <a:t>3. Support</a:t>
            </a:r>
          </a:p>
          <a:p>
            <a:pPr indent="0" algn="ctr">
              <a:lnSpc>
                <a:spcPct val="125000"/>
              </a:lnSpc>
            </a:pPr>
            <a:r>
              <a:rPr lang="en-US" sz="1800" b="0" i="0" u="none" strike="noStrike">
                <a:solidFill>
                  <a:srgbClr val="CBD5E1"/>
                </a:solidFill>
                <a:latin typeface="Open Sans"/>
                <a:ea typeface="Open Sans"/>
                <a:cs typeface="Open Sans"/>
                <a:sym typeface="Open Sans"/>
              </a:rPr>
              <a:t>Healthcare professionals in decision-making.</a:t>
            </a:r>
          </a:p>
        </p:txBody>
      </p:sp>
      <p:sp>
        <p:nvSpPr>
          <p:cNvPr id="5" name="AutoShape 5"/>
          <p:cNvSpPr/>
          <p:nvPr/>
        </p:nvSpPr>
        <p:spPr>
          <a:xfrm>
            <a:off x="5842000" y="2286000"/>
            <a:ext cx="9398000" cy="508000"/>
          </a:xfrm>
          <a:prstGeom prst="rect">
            <a:avLst/>
          </a:prstGeom>
          <a:noFill/>
          <a:ln w="16933" cap="flat" cmpd="sng">
            <a:noFill/>
            <a:prstDash val="solid"/>
            <a:round/>
          </a:ln>
        </p:spPr>
        <p:txBody>
          <a:bodyPr vert="horz" wrap="square" lIns="0" tIns="0" rIns="0" bIns="0" rtlCol="0" anchor="ctr" anchorCtr="0">
            <a:normAutofit/>
          </a:bodyPr>
          <a:lstStyle/>
          <a:p>
            <a:pPr indent="0" algn="l">
              <a:lnSpc>
                <a:spcPct val="125000"/>
              </a:lnSpc>
              <a:defRPr/>
            </a:pPr>
            <a:r>
              <a:rPr lang="en-US" sz="2400" b="1" i="0" u="none" strike="noStrike">
                <a:solidFill>
                  <a:srgbClr val="F8FAFC"/>
                </a:solidFill>
                <a:latin typeface="Inter"/>
                <a:ea typeface="Inter"/>
                <a:cs typeface="Inter"/>
                <a:sym typeface="Inter"/>
              </a:rPr>
              <a:t>Model Development Life Cycle</a:t>
            </a:r>
            <a:endParaRPr lang="en-US" sz="1100"/>
          </a:p>
        </p:txBody>
      </p:sp>
      <p:sp>
        <p:nvSpPr>
          <p:cNvPr id="6" name="AutoShape 6"/>
          <p:cNvSpPr/>
          <p:nvPr/>
        </p:nvSpPr>
        <p:spPr>
          <a:xfrm>
            <a:off x="5842000" y="3175000"/>
            <a:ext cx="2794000" cy="1905000"/>
          </a:xfrm>
          <a:prstGeom prst="roundRect">
            <a:avLst>
              <a:gd name="adj" fmla="val 4000"/>
            </a:avLst>
          </a:prstGeom>
          <a:solidFill>
            <a:srgbClr val="94A3B8">
              <a:alpha val="10000"/>
            </a:srgbClr>
          </a:solidFill>
          <a:ln w="25400" cap="flat" cmpd="sng">
            <a:solidFill>
              <a:srgbClr val="94A3B8">
                <a:alpha val="40000"/>
              </a:srgbClr>
            </a:solidFill>
            <a:prstDash val="solid"/>
            <a:round/>
          </a:ln>
        </p:spPr>
        <p:txBody>
          <a:bodyPr vert="horz" wrap="square" lIns="0" tIns="762000" rIns="0" bIns="0" rtlCol="0" anchor="ctr" anchorCtr="0">
            <a:normAutofit/>
          </a:bodyPr>
          <a:lstStyle/>
          <a:p>
            <a:pPr indent="0" algn="ctr">
              <a:lnSpc>
                <a:spcPct val="125000"/>
              </a:lnSpc>
              <a:defRPr/>
            </a:pPr>
            <a:r>
              <a:rPr lang="en-US" sz="2000" b="1" i="0" u="none" strike="noStrike">
                <a:solidFill>
                  <a:srgbClr val="F8FAFC"/>
                </a:solidFill>
                <a:latin typeface="Open Sans"/>
                <a:ea typeface="Open Sans"/>
                <a:cs typeface="Open Sans"/>
                <a:sym typeface="Open Sans"/>
              </a:rPr>
              <a:t>1. Problem Def</a:t>
            </a:r>
            <a:endParaRPr lang="en-US" sz="1100"/>
          </a:p>
        </p:txBody>
      </p:sp>
      <p:sp>
        <p:nvSpPr>
          <p:cNvPr id="7" name="AutoShape 7"/>
          <p:cNvSpPr/>
          <p:nvPr/>
        </p:nvSpPr>
        <p:spPr>
          <a:xfrm>
            <a:off x="8763000" y="3937000"/>
            <a:ext cx="254000" cy="381000"/>
          </a:xfrm>
          <a:prstGeom prst="rightArrow">
            <a:avLst/>
          </a:prstGeom>
          <a:solidFill>
            <a:srgbClr val="94A3B8">
              <a:alpha val="50000"/>
            </a:srgbClr>
          </a:solidFill>
          <a:ln w="25400" cap="flat" cmpd="sng">
            <a:noFill/>
            <a:prstDash val="solid"/>
            <a:round/>
          </a:ln>
        </p:spPr>
        <p:txBody>
          <a:bodyPr vert="horz" wrap="square" lIns="0" tIns="0" rIns="0" bIns="0" rtlCol="0" anchor="ctr" anchorCtr="0"/>
          <a:lstStyle/>
          <a:p>
            <a:pPr algn="ctr">
              <a:defRPr/>
            </a:pPr>
            <a:endParaRPr/>
          </a:p>
        </p:txBody>
      </p:sp>
      <p:sp>
        <p:nvSpPr>
          <p:cNvPr id="8" name="AutoShape 8"/>
          <p:cNvSpPr/>
          <p:nvPr/>
        </p:nvSpPr>
        <p:spPr>
          <a:xfrm>
            <a:off x="9144000" y="3175000"/>
            <a:ext cx="2794000" cy="1905000"/>
          </a:xfrm>
          <a:prstGeom prst="roundRect">
            <a:avLst>
              <a:gd name="adj" fmla="val 4000"/>
            </a:avLst>
          </a:prstGeom>
          <a:solidFill>
            <a:srgbClr val="94A3B8">
              <a:alpha val="15000"/>
            </a:srgbClr>
          </a:solidFill>
          <a:ln w="25400" cap="flat" cmpd="sng">
            <a:solidFill>
              <a:srgbClr val="94A3B8">
                <a:alpha val="50000"/>
              </a:srgbClr>
            </a:solidFill>
            <a:prstDash val="solid"/>
            <a:round/>
          </a:ln>
        </p:spPr>
        <p:txBody>
          <a:bodyPr vert="horz" wrap="square" lIns="0" tIns="762000" rIns="0" bIns="0" rtlCol="0" anchor="ctr" anchorCtr="0">
            <a:normAutofit/>
          </a:bodyPr>
          <a:lstStyle/>
          <a:p>
            <a:pPr indent="0" algn="ctr">
              <a:lnSpc>
                <a:spcPct val="125000"/>
              </a:lnSpc>
              <a:defRPr/>
            </a:pPr>
            <a:r>
              <a:rPr lang="en-US" sz="2000" b="1" i="0" u="none" strike="noStrike">
                <a:solidFill>
                  <a:srgbClr val="F8FAFC"/>
                </a:solidFill>
                <a:latin typeface="Open Sans"/>
                <a:ea typeface="Open Sans"/>
                <a:cs typeface="Open Sans"/>
                <a:sym typeface="Open Sans"/>
              </a:rPr>
              <a:t>2. Data Collection</a:t>
            </a:r>
            <a:endParaRPr lang="en-US" sz="1100"/>
          </a:p>
        </p:txBody>
      </p:sp>
      <p:sp>
        <p:nvSpPr>
          <p:cNvPr id="9" name="AutoShape 9"/>
          <p:cNvSpPr/>
          <p:nvPr/>
        </p:nvSpPr>
        <p:spPr>
          <a:xfrm>
            <a:off x="12065000" y="3937000"/>
            <a:ext cx="254000" cy="381000"/>
          </a:xfrm>
          <a:prstGeom prst="rightArrow">
            <a:avLst/>
          </a:prstGeom>
          <a:solidFill>
            <a:srgbClr val="94A3B8">
              <a:alpha val="60000"/>
            </a:srgbClr>
          </a:solidFill>
          <a:ln w="25400" cap="flat" cmpd="sng">
            <a:noFill/>
            <a:prstDash val="solid"/>
            <a:round/>
          </a:ln>
        </p:spPr>
        <p:txBody>
          <a:bodyPr vert="horz" wrap="square" lIns="0" tIns="0" rIns="0" bIns="0" rtlCol="0" anchor="ctr" anchorCtr="0"/>
          <a:lstStyle/>
          <a:p>
            <a:pPr algn="ctr">
              <a:defRPr/>
            </a:pPr>
            <a:endParaRPr/>
          </a:p>
        </p:txBody>
      </p:sp>
      <p:sp>
        <p:nvSpPr>
          <p:cNvPr id="10" name="AutoShape 10"/>
          <p:cNvSpPr/>
          <p:nvPr/>
        </p:nvSpPr>
        <p:spPr>
          <a:xfrm>
            <a:off x="12446000" y="3175000"/>
            <a:ext cx="2794000" cy="1905000"/>
          </a:xfrm>
          <a:prstGeom prst="roundRect">
            <a:avLst>
              <a:gd name="adj" fmla="val 4000"/>
            </a:avLst>
          </a:prstGeom>
          <a:solidFill>
            <a:srgbClr val="94A3B8">
              <a:alpha val="20000"/>
            </a:srgbClr>
          </a:solidFill>
          <a:ln w="25400" cap="flat" cmpd="sng">
            <a:solidFill>
              <a:srgbClr val="94A3B8">
                <a:alpha val="60000"/>
              </a:srgbClr>
            </a:solidFill>
            <a:prstDash val="solid"/>
            <a:round/>
          </a:ln>
        </p:spPr>
        <p:txBody>
          <a:bodyPr vert="horz" wrap="square" lIns="0" tIns="762000" rIns="0" bIns="0" rtlCol="0" anchor="ctr" anchorCtr="0">
            <a:normAutofit/>
          </a:bodyPr>
          <a:lstStyle/>
          <a:p>
            <a:pPr indent="0" algn="ctr">
              <a:lnSpc>
                <a:spcPct val="125000"/>
              </a:lnSpc>
              <a:defRPr/>
            </a:pPr>
            <a:r>
              <a:rPr lang="en-US" sz="2000" b="1" i="0" u="none" strike="noStrike">
                <a:solidFill>
                  <a:srgbClr val="F8FAFC"/>
                </a:solidFill>
                <a:latin typeface="Open Sans"/>
                <a:ea typeface="Open Sans"/>
                <a:cs typeface="Open Sans"/>
                <a:sym typeface="Open Sans"/>
              </a:rPr>
              <a:t>3. Data Prep</a:t>
            </a:r>
            <a:endParaRPr lang="en-US" sz="1100"/>
          </a:p>
        </p:txBody>
      </p:sp>
      <p:sp>
        <p:nvSpPr>
          <p:cNvPr id="11" name="AutoShape 11"/>
          <p:cNvSpPr/>
          <p:nvPr/>
        </p:nvSpPr>
        <p:spPr>
          <a:xfrm>
            <a:off x="13716000" y="5207000"/>
            <a:ext cx="254000" cy="381000"/>
          </a:xfrm>
          <a:prstGeom prst="downArrow">
            <a:avLst/>
          </a:prstGeom>
          <a:solidFill>
            <a:srgbClr val="94A3B8">
              <a:alpha val="70000"/>
            </a:srgbClr>
          </a:solidFill>
          <a:ln w="25400" cap="flat" cmpd="sng">
            <a:noFill/>
            <a:prstDash val="solid"/>
            <a:round/>
          </a:ln>
        </p:spPr>
        <p:txBody>
          <a:bodyPr vert="horz" wrap="square" lIns="0" tIns="0" rIns="0" bIns="0" rtlCol="0" anchor="ctr" anchorCtr="0"/>
          <a:lstStyle/>
          <a:p>
            <a:pPr algn="ctr">
              <a:defRPr/>
            </a:pPr>
            <a:endParaRPr/>
          </a:p>
        </p:txBody>
      </p:sp>
      <p:sp>
        <p:nvSpPr>
          <p:cNvPr id="12" name="AutoShape 12"/>
          <p:cNvSpPr/>
          <p:nvPr/>
        </p:nvSpPr>
        <p:spPr>
          <a:xfrm>
            <a:off x="12446000" y="5715000"/>
            <a:ext cx="2794000" cy="1905000"/>
          </a:xfrm>
          <a:prstGeom prst="roundRect">
            <a:avLst>
              <a:gd name="adj" fmla="val 4000"/>
            </a:avLst>
          </a:prstGeom>
          <a:solidFill>
            <a:srgbClr val="94A3B8">
              <a:alpha val="25000"/>
            </a:srgbClr>
          </a:solidFill>
          <a:ln w="25400" cap="flat" cmpd="sng">
            <a:solidFill>
              <a:srgbClr val="94A3B8">
                <a:alpha val="70000"/>
              </a:srgbClr>
            </a:solidFill>
            <a:prstDash val="solid"/>
            <a:round/>
          </a:ln>
        </p:spPr>
        <p:txBody>
          <a:bodyPr vert="horz" wrap="square" lIns="0" tIns="762000" rIns="0" bIns="0" rtlCol="0" anchor="ctr" anchorCtr="0">
            <a:normAutofit/>
          </a:bodyPr>
          <a:lstStyle/>
          <a:p>
            <a:pPr indent="0" algn="ctr">
              <a:lnSpc>
                <a:spcPct val="125000"/>
              </a:lnSpc>
              <a:defRPr/>
            </a:pPr>
            <a:r>
              <a:rPr lang="en-US" sz="2000" b="1" i="0" u="none" strike="noStrike">
                <a:solidFill>
                  <a:srgbClr val="F8FAFC"/>
                </a:solidFill>
                <a:latin typeface="Open Sans"/>
                <a:ea typeface="Open Sans"/>
                <a:cs typeface="Open Sans"/>
                <a:sym typeface="Open Sans"/>
              </a:rPr>
              <a:t>4. Model Dev</a:t>
            </a:r>
            <a:endParaRPr lang="en-US" sz="1100"/>
          </a:p>
        </p:txBody>
      </p:sp>
      <p:sp>
        <p:nvSpPr>
          <p:cNvPr id="13" name="AutoShape 13"/>
          <p:cNvSpPr/>
          <p:nvPr/>
        </p:nvSpPr>
        <p:spPr>
          <a:xfrm rot="10800000">
            <a:off x="12065000" y="6477000"/>
            <a:ext cx="254000" cy="381000"/>
          </a:xfrm>
          <a:prstGeom prst="rightArrow">
            <a:avLst/>
          </a:prstGeom>
          <a:solidFill>
            <a:srgbClr val="94A3B8">
              <a:alpha val="80000"/>
            </a:srgbClr>
          </a:solidFill>
          <a:ln w="25400" cap="flat" cmpd="sng">
            <a:noFill/>
            <a:prstDash val="solid"/>
            <a:round/>
          </a:ln>
        </p:spPr>
        <p:txBody>
          <a:bodyPr vert="horz" wrap="square" lIns="0" tIns="0" rIns="0" bIns="0" rtlCol="0" anchor="ctr" anchorCtr="0"/>
          <a:lstStyle/>
          <a:p>
            <a:pPr algn="ctr">
              <a:defRPr/>
            </a:pPr>
            <a:endParaRPr/>
          </a:p>
        </p:txBody>
      </p:sp>
      <p:sp>
        <p:nvSpPr>
          <p:cNvPr id="14" name="AutoShape 14"/>
          <p:cNvSpPr/>
          <p:nvPr/>
        </p:nvSpPr>
        <p:spPr>
          <a:xfrm>
            <a:off x="9144000" y="5715000"/>
            <a:ext cx="2794000" cy="1905000"/>
          </a:xfrm>
          <a:prstGeom prst="roundRect">
            <a:avLst>
              <a:gd name="adj" fmla="val 4000"/>
            </a:avLst>
          </a:prstGeom>
          <a:solidFill>
            <a:srgbClr val="94A3B8">
              <a:alpha val="30000"/>
            </a:srgbClr>
          </a:solidFill>
          <a:ln w="25400" cap="flat" cmpd="sng">
            <a:solidFill>
              <a:srgbClr val="94A3B8">
                <a:alpha val="80000"/>
              </a:srgbClr>
            </a:solidFill>
            <a:prstDash val="solid"/>
            <a:round/>
          </a:ln>
        </p:spPr>
        <p:txBody>
          <a:bodyPr vert="horz" wrap="square" lIns="0" tIns="762000" rIns="0" bIns="0" rtlCol="0" anchor="ctr" anchorCtr="0">
            <a:normAutofit/>
          </a:bodyPr>
          <a:lstStyle/>
          <a:p>
            <a:pPr indent="0" algn="ctr">
              <a:lnSpc>
                <a:spcPct val="125000"/>
              </a:lnSpc>
              <a:defRPr/>
            </a:pPr>
            <a:r>
              <a:rPr lang="en-US" sz="2000" b="1" i="0" u="none" strike="noStrike">
                <a:solidFill>
                  <a:srgbClr val="F8FAFC"/>
                </a:solidFill>
                <a:latin typeface="Open Sans"/>
                <a:ea typeface="Open Sans"/>
                <a:cs typeface="Open Sans"/>
                <a:sym typeface="Open Sans"/>
              </a:rPr>
              <a:t>5. Evaluation</a:t>
            </a:r>
            <a:endParaRPr lang="en-US" sz="1100"/>
          </a:p>
        </p:txBody>
      </p:sp>
      <p:sp>
        <p:nvSpPr>
          <p:cNvPr id="15" name="AutoShape 15"/>
          <p:cNvSpPr/>
          <p:nvPr/>
        </p:nvSpPr>
        <p:spPr>
          <a:xfrm rot="10800000">
            <a:off x="8763000" y="6477000"/>
            <a:ext cx="254000" cy="381000"/>
          </a:xfrm>
          <a:prstGeom prst="rightArrow">
            <a:avLst/>
          </a:prstGeom>
          <a:solidFill>
            <a:srgbClr val="94A3B8">
              <a:alpha val="90000"/>
            </a:srgbClr>
          </a:solidFill>
          <a:ln w="25400" cap="flat" cmpd="sng">
            <a:noFill/>
            <a:prstDash val="solid"/>
            <a:round/>
          </a:ln>
        </p:spPr>
        <p:txBody>
          <a:bodyPr vert="horz" wrap="square" lIns="0" tIns="0" rIns="0" bIns="0" rtlCol="0" anchor="ctr" anchorCtr="0"/>
          <a:lstStyle/>
          <a:p>
            <a:pPr algn="ctr">
              <a:defRPr/>
            </a:pPr>
            <a:endParaRPr/>
          </a:p>
        </p:txBody>
      </p:sp>
      <p:sp>
        <p:nvSpPr>
          <p:cNvPr id="16" name="AutoShape 16"/>
          <p:cNvSpPr/>
          <p:nvPr/>
        </p:nvSpPr>
        <p:spPr>
          <a:xfrm>
            <a:off x="5842000" y="5715000"/>
            <a:ext cx="2794000" cy="1905000"/>
          </a:xfrm>
          <a:prstGeom prst="roundRect">
            <a:avLst>
              <a:gd name="adj" fmla="val 4000"/>
            </a:avLst>
          </a:prstGeom>
          <a:solidFill>
            <a:srgbClr val="94A3B8">
              <a:alpha val="40000"/>
            </a:srgbClr>
          </a:solidFill>
          <a:ln w="25400" cap="flat" cmpd="sng">
            <a:solidFill>
              <a:srgbClr val="94A3B8">
                <a:alpha val="100000"/>
              </a:srgbClr>
            </a:solidFill>
            <a:prstDash val="solid"/>
            <a:round/>
          </a:ln>
        </p:spPr>
        <p:txBody>
          <a:bodyPr vert="horz" wrap="square" lIns="0" tIns="635000" rIns="0" bIns="0" rtlCol="0" anchor="ctr" anchorCtr="0">
            <a:normAutofit/>
          </a:bodyPr>
          <a:lstStyle/>
          <a:p>
            <a:pPr indent="0" algn="ctr">
              <a:lnSpc>
                <a:spcPct val="125000"/>
              </a:lnSpc>
              <a:defRPr/>
            </a:pPr>
            <a:r>
              <a:rPr lang="en-US" sz="2000" b="1" i="0" u="none" strike="noStrike">
                <a:solidFill>
                  <a:srgbClr val="F8FAFC"/>
                </a:solidFill>
                <a:latin typeface="Open Sans"/>
                <a:ea typeface="Open Sans"/>
                <a:cs typeface="Open Sans"/>
                <a:sym typeface="Open Sans"/>
              </a:rPr>
              <a:t>6. Deploy &amp;</a:t>
            </a:r>
            <a:endParaRPr lang="en-US" sz="1100"/>
          </a:p>
          <a:p>
            <a:pPr indent="0" algn="ctr">
              <a:lnSpc>
                <a:spcPct val="125000"/>
              </a:lnSpc>
            </a:pPr>
            <a:r>
              <a:rPr lang="en-US" sz="2000" b="1" i="0" u="none" strike="noStrike">
                <a:solidFill>
                  <a:srgbClr val="F8FAFC"/>
                </a:solidFill>
                <a:latin typeface="Open Sans"/>
                <a:ea typeface="Open Sans"/>
                <a:cs typeface="Open Sans"/>
                <a:sym typeface="Open Sans"/>
              </a:rPr>
              <a:t>Monitor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4224000" cy="762000"/>
          </a:xfrm>
          <a:prstGeom prst="rect">
            <a:avLst/>
          </a:prstGeom>
          <a:noFill/>
          <a:ln w="16933" cap="flat" cmpd="sng">
            <a:noFill/>
            <a:prstDash val="solid"/>
            <a:round/>
          </a:ln>
        </p:spPr>
        <p:txBody>
          <a:bodyPr vert="horz" wrap="square" lIns="0" tIns="0" rIns="0" bIns="0" rtlCol="0" anchor="ctr" anchorCtr="0">
            <a:normAutofit/>
          </a:bodyPr>
          <a:lstStyle/>
          <a:p>
            <a:pPr indent="0" algn="l">
              <a:lnSpc>
                <a:spcPct val="108333"/>
              </a:lnSpc>
              <a:defRPr/>
            </a:pPr>
            <a:r>
              <a:rPr lang="en-US" sz="4400" b="1" i="0" u="none" strike="noStrike">
                <a:solidFill>
                  <a:srgbClr val="F8FAFC"/>
                </a:solidFill>
                <a:latin typeface="Inter"/>
                <a:ea typeface="Inter"/>
                <a:cs typeface="Inter"/>
                <a:sym typeface="Inter"/>
              </a:rPr>
              <a:t>5 Core Principles of Responsible AI</a:t>
            </a:r>
            <a:endParaRPr lang="en-US" sz="1100"/>
          </a:p>
        </p:txBody>
      </p:sp>
      <p:sp>
        <p:nvSpPr>
          <p:cNvPr id="3" name="AutoShape 3"/>
          <p:cNvSpPr/>
          <p:nvPr/>
        </p:nvSpPr>
        <p:spPr>
          <a:xfrm>
            <a:off x="1016000" y="1651000"/>
            <a:ext cx="14224000" cy="25400"/>
          </a:xfrm>
          <a:prstGeom prst="roundRect">
            <a:avLst>
              <a:gd name="adj" fmla="val 0"/>
            </a:avLst>
          </a:prstGeom>
          <a:solidFill>
            <a:srgbClr val="94A3B8">
              <a:alpha val="30000"/>
            </a:srgbClr>
          </a:solidFill>
          <a:ln w="25400" cap="flat" cmpd="sng">
            <a:noFill/>
            <a:prstDash val="solid"/>
            <a:round/>
          </a:ln>
        </p:spPr>
        <p:txBody>
          <a:bodyPr vert="horz" wrap="square" lIns="0" tIns="0" rIns="0" bIns="0" rtlCol="0" anchor="ctr" anchorCtr="0"/>
          <a:lstStyle/>
          <a:p>
            <a:pPr algn="ctr">
              <a:defRPr/>
            </a:pPr>
            <a:endParaRPr/>
          </a:p>
        </p:txBody>
      </p:sp>
      <p:sp>
        <p:nvSpPr>
          <p:cNvPr id="4" name="AutoShape 4"/>
          <p:cNvSpPr/>
          <p:nvPr/>
        </p:nvSpPr>
        <p:spPr>
          <a:xfrm>
            <a:off x="1016000" y="2286000"/>
            <a:ext cx="4445000" cy="2540000"/>
          </a:xfrm>
          <a:prstGeom prst="roundRect">
            <a:avLst>
              <a:gd name="adj" fmla="val 3000"/>
            </a:avLst>
          </a:prstGeom>
          <a:solidFill>
            <a:srgbClr val="1E293B">
              <a:alpha val="100000"/>
            </a:srgbClr>
          </a:solidFill>
          <a:ln w="12700" cap="flat" cmpd="sng">
            <a:solidFill>
              <a:srgbClr val="94A3B8">
                <a:alpha val="30000"/>
              </a:srgbClr>
            </a:solidFill>
            <a:prstDash val="solid"/>
            <a:round/>
          </a:ln>
        </p:spPr>
        <p:txBody>
          <a:bodyPr vert="horz" wrap="square" lIns="304800" tIns="381000" rIns="304800" bIns="254000" rtlCol="0" anchor="ctr" anchorCtr="0">
            <a:normAutofit/>
          </a:bodyPr>
          <a:lstStyle/>
          <a:p>
            <a:pPr indent="0" algn="l">
              <a:lnSpc>
                <a:spcPct val="116666"/>
              </a:lnSpc>
              <a:spcBef>
                <a:spcPts val="800"/>
              </a:spcBef>
              <a:defRPr/>
            </a:pPr>
            <a:r>
              <a:rPr lang="en-US" sz="2200" b="1" i="0" u="none" strike="noStrike">
                <a:solidFill>
                  <a:srgbClr val="94A3B8"/>
                </a:solidFill>
                <a:latin typeface="Inter"/>
                <a:ea typeface="Inter"/>
                <a:cs typeface="Inter"/>
                <a:sym typeface="Inter"/>
              </a:rPr>
              <a:t>01. Fairness</a:t>
            </a:r>
            <a:endParaRPr lang="en-US" sz="1100"/>
          </a:p>
          <a:p>
            <a:pPr indent="0" algn="l">
              <a:lnSpc>
                <a:spcPct val="116666"/>
              </a:lnSpc>
              <a:spcBef>
                <a:spcPts val="1600"/>
              </a:spcBef>
            </a:pPr>
            <a:r>
              <a:rPr lang="en-US" sz="1600" b="0" i="0" u="none" strike="noStrike">
                <a:solidFill>
                  <a:srgbClr val="CBD5E1"/>
                </a:solidFill>
                <a:latin typeface="Open Sans"/>
                <a:ea typeface="Open Sans"/>
                <a:cs typeface="Open Sans"/>
                <a:sym typeface="Open Sans"/>
              </a:rPr>
              <a:t>• Ensure equal treatment of all patient groups.</a:t>
            </a:r>
          </a:p>
          <a:p>
            <a:pPr indent="0" algn="l">
              <a:lnSpc>
                <a:spcPct val="116666"/>
              </a:lnSpc>
            </a:pPr>
            <a:r>
              <a:rPr lang="en-US" sz="1600" b="0" i="0" u="none" strike="noStrike">
                <a:solidFill>
                  <a:srgbClr val="CBD5E1"/>
                </a:solidFill>
                <a:latin typeface="Open Sans"/>
                <a:ea typeface="Open Sans"/>
                <a:cs typeface="Open Sans"/>
                <a:sym typeface="Open Sans"/>
              </a:rPr>
              <a:t>• Prevent discrimination by age, gender, or ethnicity.</a:t>
            </a:r>
          </a:p>
        </p:txBody>
      </p:sp>
      <p:sp>
        <p:nvSpPr>
          <p:cNvPr id="5" name="AutoShape 5"/>
          <p:cNvSpPr/>
          <p:nvPr/>
        </p:nvSpPr>
        <p:spPr>
          <a:xfrm>
            <a:off x="5905500" y="2286000"/>
            <a:ext cx="4445000" cy="2540000"/>
          </a:xfrm>
          <a:prstGeom prst="roundRect">
            <a:avLst>
              <a:gd name="adj" fmla="val 3000"/>
            </a:avLst>
          </a:prstGeom>
          <a:solidFill>
            <a:srgbClr val="1E293B">
              <a:alpha val="100000"/>
            </a:srgbClr>
          </a:solidFill>
          <a:ln w="12700" cap="flat" cmpd="sng">
            <a:solidFill>
              <a:srgbClr val="94A3B8">
                <a:alpha val="30000"/>
              </a:srgbClr>
            </a:solidFill>
            <a:prstDash val="solid"/>
            <a:round/>
          </a:ln>
        </p:spPr>
        <p:txBody>
          <a:bodyPr vert="horz" wrap="square" lIns="304800" tIns="381000" rIns="304800" bIns="254000" rtlCol="0" anchor="ctr" anchorCtr="0">
            <a:normAutofit/>
          </a:bodyPr>
          <a:lstStyle/>
          <a:p>
            <a:pPr indent="0" algn="l">
              <a:lnSpc>
                <a:spcPct val="116666"/>
              </a:lnSpc>
              <a:spcBef>
                <a:spcPts val="800"/>
              </a:spcBef>
              <a:defRPr/>
            </a:pPr>
            <a:r>
              <a:rPr lang="en-US" sz="2200" b="1" i="0" u="none" strike="noStrike">
                <a:solidFill>
                  <a:srgbClr val="94A3B8"/>
                </a:solidFill>
                <a:latin typeface="Inter"/>
                <a:ea typeface="Inter"/>
                <a:cs typeface="Inter"/>
                <a:sym typeface="Inter"/>
              </a:rPr>
              <a:t>02. Transparency</a:t>
            </a:r>
            <a:endParaRPr lang="en-US" sz="1100"/>
          </a:p>
          <a:p>
            <a:pPr indent="0" algn="l">
              <a:lnSpc>
                <a:spcPct val="116666"/>
              </a:lnSpc>
              <a:spcBef>
                <a:spcPts val="1600"/>
              </a:spcBef>
            </a:pPr>
            <a:r>
              <a:rPr lang="en-US" sz="1600" b="0" i="0" u="none" strike="noStrike">
                <a:solidFill>
                  <a:srgbClr val="CBD5E1"/>
                </a:solidFill>
                <a:latin typeface="Open Sans"/>
                <a:ea typeface="Open Sans"/>
                <a:cs typeface="Open Sans"/>
                <a:sym typeface="Open Sans"/>
              </a:rPr>
              <a:t>• Explain how predictions are made clearly.</a:t>
            </a:r>
          </a:p>
          <a:p>
            <a:pPr indent="0" algn="l">
              <a:lnSpc>
                <a:spcPct val="116666"/>
              </a:lnSpc>
            </a:pPr>
            <a:r>
              <a:rPr lang="en-US" sz="1600" b="0" i="0" u="none" strike="noStrike">
                <a:solidFill>
                  <a:srgbClr val="CBD5E1"/>
                </a:solidFill>
                <a:latin typeface="Open Sans"/>
                <a:ea typeface="Open Sans"/>
                <a:cs typeface="Open Sans"/>
                <a:sym typeface="Open Sans"/>
              </a:rPr>
              <a:t>• Help doctors understand AI recommendations.</a:t>
            </a:r>
          </a:p>
        </p:txBody>
      </p:sp>
      <p:sp>
        <p:nvSpPr>
          <p:cNvPr id="6" name="AutoShape 6"/>
          <p:cNvSpPr/>
          <p:nvPr/>
        </p:nvSpPr>
        <p:spPr>
          <a:xfrm>
            <a:off x="10795000" y="2286000"/>
            <a:ext cx="4445000" cy="2540000"/>
          </a:xfrm>
          <a:prstGeom prst="roundRect">
            <a:avLst>
              <a:gd name="adj" fmla="val 3000"/>
            </a:avLst>
          </a:prstGeom>
          <a:solidFill>
            <a:srgbClr val="1E293B">
              <a:alpha val="100000"/>
            </a:srgbClr>
          </a:solidFill>
          <a:ln w="12700" cap="flat" cmpd="sng">
            <a:solidFill>
              <a:srgbClr val="94A3B8">
                <a:alpha val="30000"/>
              </a:srgbClr>
            </a:solidFill>
            <a:prstDash val="solid"/>
            <a:round/>
          </a:ln>
        </p:spPr>
        <p:txBody>
          <a:bodyPr vert="horz" wrap="square" lIns="304800" tIns="381000" rIns="304800" bIns="254000" rtlCol="0" anchor="ctr" anchorCtr="0">
            <a:normAutofit/>
          </a:bodyPr>
          <a:lstStyle/>
          <a:p>
            <a:pPr indent="0" algn="l">
              <a:lnSpc>
                <a:spcPct val="116666"/>
              </a:lnSpc>
              <a:spcBef>
                <a:spcPts val="800"/>
              </a:spcBef>
              <a:defRPr/>
            </a:pPr>
            <a:r>
              <a:rPr lang="en-US" sz="2200" b="1" i="0" u="none" strike="noStrike">
                <a:solidFill>
                  <a:srgbClr val="94A3B8"/>
                </a:solidFill>
                <a:latin typeface="Inter"/>
                <a:ea typeface="Inter"/>
                <a:cs typeface="Inter"/>
                <a:sym typeface="Inter"/>
              </a:rPr>
              <a:t>03. Privacy &amp; Security</a:t>
            </a:r>
            <a:endParaRPr lang="en-US" sz="1100"/>
          </a:p>
          <a:p>
            <a:pPr indent="0" algn="l">
              <a:lnSpc>
                <a:spcPct val="116666"/>
              </a:lnSpc>
              <a:spcBef>
                <a:spcPts val="1600"/>
              </a:spcBef>
            </a:pPr>
            <a:r>
              <a:rPr lang="en-US" sz="1600" b="0" i="0" u="none" strike="noStrike">
                <a:solidFill>
                  <a:srgbClr val="CBD5E1"/>
                </a:solidFill>
                <a:latin typeface="Open Sans"/>
                <a:ea typeface="Open Sans"/>
                <a:cs typeface="Open Sans"/>
                <a:sym typeface="Open Sans"/>
              </a:rPr>
              <a:t>• Protect highly sensitive patient information.</a:t>
            </a:r>
          </a:p>
          <a:p>
            <a:pPr indent="0" algn="l">
              <a:lnSpc>
                <a:spcPct val="116666"/>
              </a:lnSpc>
            </a:pPr>
            <a:r>
              <a:rPr lang="en-US" sz="1600" b="0" i="0" u="none" strike="noStrike">
                <a:solidFill>
                  <a:srgbClr val="CBD5E1"/>
                </a:solidFill>
                <a:latin typeface="Open Sans"/>
                <a:ea typeface="Open Sans"/>
                <a:cs typeface="Open Sans"/>
                <a:sym typeface="Open Sans"/>
              </a:rPr>
              <a:t>• Ensure compliance with healthcare regulations.</a:t>
            </a:r>
          </a:p>
        </p:txBody>
      </p:sp>
      <p:sp>
        <p:nvSpPr>
          <p:cNvPr id="7" name="AutoShape 7"/>
          <p:cNvSpPr/>
          <p:nvPr/>
        </p:nvSpPr>
        <p:spPr>
          <a:xfrm>
            <a:off x="3454400" y="5334000"/>
            <a:ext cx="4445000" cy="2540000"/>
          </a:xfrm>
          <a:prstGeom prst="roundRect">
            <a:avLst>
              <a:gd name="adj" fmla="val 3000"/>
            </a:avLst>
          </a:prstGeom>
          <a:solidFill>
            <a:srgbClr val="1E293B">
              <a:alpha val="100000"/>
            </a:srgbClr>
          </a:solidFill>
          <a:ln w="12700" cap="flat" cmpd="sng">
            <a:solidFill>
              <a:srgbClr val="94A3B8">
                <a:alpha val="30000"/>
              </a:srgbClr>
            </a:solidFill>
            <a:prstDash val="solid"/>
            <a:round/>
          </a:ln>
        </p:spPr>
        <p:txBody>
          <a:bodyPr vert="horz" wrap="square" lIns="304800" tIns="381000" rIns="304800" bIns="254000" rtlCol="0" anchor="ctr" anchorCtr="0">
            <a:normAutofit/>
          </a:bodyPr>
          <a:lstStyle/>
          <a:p>
            <a:pPr indent="0" algn="l">
              <a:lnSpc>
                <a:spcPct val="116666"/>
              </a:lnSpc>
              <a:spcBef>
                <a:spcPts val="800"/>
              </a:spcBef>
              <a:defRPr/>
            </a:pPr>
            <a:r>
              <a:rPr lang="en-US" sz="2200" b="1" i="0" u="none" strike="noStrike">
                <a:solidFill>
                  <a:srgbClr val="94A3B8"/>
                </a:solidFill>
                <a:latin typeface="Inter"/>
                <a:ea typeface="Inter"/>
                <a:cs typeface="Inter"/>
                <a:sym typeface="Inter"/>
              </a:rPr>
              <a:t>04. Accountability</a:t>
            </a:r>
            <a:endParaRPr lang="en-US" sz="1100"/>
          </a:p>
          <a:p>
            <a:pPr indent="0" algn="l">
              <a:lnSpc>
                <a:spcPct val="116666"/>
              </a:lnSpc>
              <a:spcBef>
                <a:spcPts val="1600"/>
              </a:spcBef>
            </a:pPr>
            <a:r>
              <a:rPr lang="en-US" sz="1600" b="0" i="0" u="none" strike="noStrike">
                <a:solidFill>
                  <a:srgbClr val="CBD5E1"/>
                </a:solidFill>
                <a:latin typeface="Open Sans"/>
                <a:ea typeface="Open Sans"/>
                <a:cs typeface="Open Sans"/>
                <a:sym typeface="Open Sans"/>
              </a:rPr>
              <a:t>• Human oversight remains essential in medicine.</a:t>
            </a:r>
          </a:p>
          <a:p>
            <a:pPr indent="0" algn="l">
              <a:lnSpc>
                <a:spcPct val="116666"/>
              </a:lnSpc>
            </a:pPr>
            <a:r>
              <a:rPr lang="en-US" sz="1600" b="0" i="0" u="none" strike="noStrike">
                <a:solidFill>
                  <a:srgbClr val="CBD5E1"/>
                </a:solidFill>
                <a:latin typeface="Open Sans"/>
                <a:ea typeface="Open Sans"/>
                <a:cs typeface="Open Sans"/>
                <a:sym typeface="Open Sans"/>
              </a:rPr>
              <a:t>• Healthcare organizations remain responsible.</a:t>
            </a:r>
          </a:p>
        </p:txBody>
      </p:sp>
      <p:sp>
        <p:nvSpPr>
          <p:cNvPr id="8" name="AutoShape 8"/>
          <p:cNvSpPr/>
          <p:nvPr/>
        </p:nvSpPr>
        <p:spPr>
          <a:xfrm>
            <a:off x="8343900" y="5334000"/>
            <a:ext cx="4445000" cy="2540000"/>
          </a:xfrm>
          <a:prstGeom prst="roundRect">
            <a:avLst>
              <a:gd name="adj" fmla="val 3000"/>
            </a:avLst>
          </a:prstGeom>
          <a:solidFill>
            <a:srgbClr val="1E293B">
              <a:alpha val="100000"/>
            </a:srgbClr>
          </a:solidFill>
          <a:ln w="12700" cap="flat" cmpd="sng">
            <a:solidFill>
              <a:srgbClr val="94A3B8">
                <a:alpha val="30000"/>
              </a:srgbClr>
            </a:solidFill>
            <a:prstDash val="solid"/>
            <a:round/>
          </a:ln>
        </p:spPr>
        <p:txBody>
          <a:bodyPr vert="horz" wrap="square" lIns="304800" tIns="381000" rIns="304800" bIns="254000" rtlCol="0" anchor="ctr" anchorCtr="0">
            <a:normAutofit/>
          </a:bodyPr>
          <a:lstStyle/>
          <a:p>
            <a:pPr indent="0" algn="l">
              <a:lnSpc>
                <a:spcPct val="116666"/>
              </a:lnSpc>
              <a:spcBef>
                <a:spcPts val="800"/>
              </a:spcBef>
              <a:defRPr/>
            </a:pPr>
            <a:r>
              <a:rPr lang="en-US" sz="2200" b="1" i="0" u="none" strike="noStrike">
                <a:solidFill>
                  <a:srgbClr val="94A3B8"/>
                </a:solidFill>
                <a:latin typeface="Inter"/>
                <a:ea typeface="Inter"/>
                <a:cs typeface="Inter"/>
                <a:sym typeface="Inter"/>
              </a:rPr>
              <a:t>05. Reliability &amp; Safety</a:t>
            </a:r>
            <a:endParaRPr lang="en-US" sz="1100"/>
          </a:p>
          <a:p>
            <a:pPr indent="0" algn="l">
              <a:lnSpc>
                <a:spcPct val="116666"/>
              </a:lnSpc>
              <a:spcBef>
                <a:spcPts val="1600"/>
              </a:spcBef>
            </a:pPr>
            <a:r>
              <a:rPr lang="en-US" sz="1600" b="0" i="0" u="none" strike="noStrike">
                <a:solidFill>
                  <a:srgbClr val="CBD5E1"/>
                </a:solidFill>
                <a:latin typeface="Open Sans"/>
                <a:ea typeface="Open Sans"/>
                <a:cs typeface="Open Sans"/>
                <a:sym typeface="Open Sans"/>
              </a:rPr>
              <a:t>• Deliver accurate and consistent predictions.</a:t>
            </a:r>
          </a:p>
          <a:p>
            <a:pPr indent="0" algn="l">
              <a:lnSpc>
                <a:spcPct val="116666"/>
              </a:lnSpc>
            </a:pPr>
            <a:r>
              <a:rPr lang="en-US" sz="1600" b="0" i="0" u="none" strike="noStrike">
                <a:solidFill>
                  <a:srgbClr val="CBD5E1"/>
                </a:solidFill>
                <a:latin typeface="Open Sans"/>
                <a:ea typeface="Open Sans"/>
                <a:cs typeface="Open Sans"/>
                <a:sym typeface="Open Sans"/>
              </a:rPr>
              <a:t>• Minimize and reduce risks to patient health.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4224000" cy="762000"/>
          </a:xfrm>
          <a:prstGeom prst="rect">
            <a:avLst/>
          </a:prstGeom>
          <a:noFill/>
          <a:ln w="16933" cap="flat" cmpd="sng">
            <a:noFill/>
            <a:prstDash val="solid"/>
            <a:round/>
          </a:ln>
        </p:spPr>
        <p:txBody>
          <a:bodyPr vert="horz" wrap="square" lIns="0" tIns="0" rIns="0" bIns="0" rtlCol="0" anchor="ctr" anchorCtr="0">
            <a:normAutofit/>
          </a:bodyPr>
          <a:lstStyle/>
          <a:p>
            <a:pPr indent="0" algn="l">
              <a:lnSpc>
                <a:spcPct val="108333"/>
              </a:lnSpc>
              <a:defRPr/>
            </a:pPr>
            <a:r>
              <a:rPr lang="en-US" sz="4400" b="1" i="0" u="none" strike="noStrike">
                <a:solidFill>
                  <a:srgbClr val="F8FAFC"/>
                </a:solidFill>
                <a:latin typeface="Inter"/>
                <a:ea typeface="Inter"/>
                <a:cs typeface="Inter"/>
                <a:sym typeface="Inter"/>
              </a:rPr>
              <a:t>Integrating Ethics Across the Life Cycle</a:t>
            </a:r>
            <a:endParaRPr lang="en-US" sz="1100"/>
          </a:p>
        </p:txBody>
      </p:sp>
      <p:sp>
        <p:nvSpPr>
          <p:cNvPr id="3" name="AutoShape 3"/>
          <p:cNvSpPr/>
          <p:nvPr/>
        </p:nvSpPr>
        <p:spPr>
          <a:xfrm>
            <a:off x="1016000" y="1651000"/>
            <a:ext cx="14224000" cy="25400"/>
          </a:xfrm>
          <a:prstGeom prst="roundRect">
            <a:avLst>
              <a:gd name="adj" fmla="val 0"/>
            </a:avLst>
          </a:prstGeom>
          <a:solidFill>
            <a:srgbClr val="94A3B8">
              <a:alpha val="30000"/>
            </a:srgbClr>
          </a:solidFill>
          <a:ln w="25400" cap="flat" cmpd="sng">
            <a:noFill/>
            <a:prstDash val="solid"/>
            <a:round/>
          </a:ln>
        </p:spPr>
        <p:txBody>
          <a:bodyPr vert="horz" wrap="square" lIns="0" tIns="0" rIns="0" bIns="0" rtlCol="0" anchor="ctr" anchorCtr="0"/>
          <a:lstStyle/>
          <a:p>
            <a:pPr algn="ctr">
              <a:defRPr/>
            </a:pPr>
            <a:endParaRPr/>
          </a:p>
        </p:txBody>
      </p:sp>
      <p:sp>
        <p:nvSpPr>
          <p:cNvPr id="4" name="AutoShape 4"/>
          <p:cNvSpPr/>
          <p:nvPr/>
        </p:nvSpPr>
        <p:spPr>
          <a:xfrm>
            <a:off x="1016000" y="2286000"/>
            <a:ext cx="6858000" cy="1651000"/>
          </a:xfrm>
          <a:prstGeom prst="roundRect">
            <a:avLst>
              <a:gd name="adj" fmla="val 4615"/>
            </a:avLst>
          </a:prstGeom>
          <a:solidFill>
            <a:srgbClr val="1E293B">
              <a:alpha val="100000"/>
            </a:srgbClr>
          </a:solidFill>
          <a:ln w="12700" cap="flat" cmpd="sng">
            <a:solidFill>
              <a:srgbClr val="94A3B8">
                <a:alpha val="30000"/>
              </a:srgbClr>
            </a:solidFill>
            <a:prstDash val="solid"/>
            <a:round/>
          </a:ln>
        </p:spPr>
        <p:txBody>
          <a:bodyPr vert="horz" wrap="square" lIns="304800" tIns="304800" rIns="304800" bIns="254000" rtlCol="0" anchor="ctr" anchorCtr="0">
            <a:normAutofit/>
          </a:bodyPr>
          <a:lstStyle/>
          <a:p>
            <a:pPr indent="0" algn="l">
              <a:lnSpc>
                <a:spcPct val="116666"/>
              </a:lnSpc>
              <a:spcBef>
                <a:spcPts val="400"/>
              </a:spcBef>
              <a:defRPr/>
            </a:pPr>
            <a:r>
              <a:rPr lang="en-US" sz="2000" b="1" i="0" u="none" strike="noStrike">
                <a:solidFill>
                  <a:srgbClr val="94A3B8"/>
                </a:solidFill>
                <a:latin typeface="Inter"/>
                <a:ea typeface="Inter"/>
                <a:cs typeface="Inter"/>
                <a:sym typeface="Inter"/>
              </a:rPr>
              <a:t>1. Problem Definition</a:t>
            </a:r>
            <a:endParaRPr lang="en-US" sz="1100"/>
          </a:p>
          <a:p>
            <a:pPr indent="0" algn="l">
              <a:lnSpc>
                <a:spcPct val="116666"/>
              </a:lnSpc>
              <a:spcBef>
                <a:spcPts val="1200"/>
              </a:spcBef>
            </a:pPr>
            <a:r>
              <a:rPr lang="en-US" sz="1600" b="0" i="0" u="none" strike="noStrike">
                <a:solidFill>
                  <a:srgbClr val="CBD5E1"/>
                </a:solidFill>
                <a:latin typeface="Open Sans"/>
                <a:ea typeface="Open Sans"/>
                <a:cs typeface="Open Sans"/>
                <a:sym typeface="Open Sans"/>
              </a:rPr>
              <a:t>• Define ethical objectives and patient needs.</a:t>
            </a:r>
          </a:p>
        </p:txBody>
      </p:sp>
      <p:sp>
        <p:nvSpPr>
          <p:cNvPr id="5" name="AutoShape 5"/>
          <p:cNvSpPr/>
          <p:nvPr/>
        </p:nvSpPr>
        <p:spPr>
          <a:xfrm>
            <a:off x="1016000" y="4191000"/>
            <a:ext cx="6858000" cy="1651000"/>
          </a:xfrm>
          <a:prstGeom prst="roundRect">
            <a:avLst>
              <a:gd name="adj" fmla="val 4615"/>
            </a:avLst>
          </a:prstGeom>
          <a:solidFill>
            <a:srgbClr val="1E293B">
              <a:alpha val="100000"/>
            </a:srgbClr>
          </a:solidFill>
          <a:ln w="12700" cap="flat" cmpd="sng">
            <a:solidFill>
              <a:srgbClr val="94A3B8">
                <a:alpha val="30000"/>
              </a:srgbClr>
            </a:solidFill>
            <a:prstDash val="solid"/>
            <a:round/>
          </a:ln>
        </p:spPr>
        <p:txBody>
          <a:bodyPr vert="horz" wrap="square" lIns="304800" tIns="304800" rIns="304800" bIns="254000" rtlCol="0" anchor="ctr" anchorCtr="0">
            <a:normAutofit/>
          </a:bodyPr>
          <a:lstStyle/>
          <a:p>
            <a:pPr indent="0" algn="l">
              <a:lnSpc>
                <a:spcPct val="108333"/>
              </a:lnSpc>
              <a:spcBef>
                <a:spcPts val="400"/>
              </a:spcBef>
              <a:defRPr/>
            </a:pPr>
            <a:r>
              <a:rPr lang="en-US" sz="2000" b="1" i="0" u="none" strike="noStrike">
                <a:solidFill>
                  <a:srgbClr val="94A3B8"/>
                </a:solidFill>
                <a:latin typeface="Inter"/>
                <a:ea typeface="Inter"/>
                <a:cs typeface="Inter"/>
                <a:sym typeface="Inter"/>
              </a:rPr>
              <a:t>2. Data Collection</a:t>
            </a:r>
            <a:endParaRPr lang="en-US" sz="1100"/>
          </a:p>
          <a:p>
            <a:pPr indent="0" algn="l">
              <a:lnSpc>
                <a:spcPct val="108333"/>
              </a:lnSpc>
              <a:spcBef>
                <a:spcPts val="1200"/>
              </a:spcBef>
            </a:pPr>
            <a:r>
              <a:rPr lang="en-US" sz="1600" b="0" i="0" u="none" strike="noStrike">
                <a:solidFill>
                  <a:srgbClr val="CBD5E1"/>
                </a:solidFill>
                <a:latin typeface="Open Sans"/>
                <a:ea typeface="Open Sans"/>
                <a:cs typeface="Open Sans"/>
                <a:sym typeface="Open Sans"/>
              </a:rPr>
              <a:t>• Obtain patient consent.</a:t>
            </a:r>
          </a:p>
          <a:p>
            <a:pPr indent="0" algn="l">
              <a:lnSpc>
                <a:spcPct val="108333"/>
              </a:lnSpc>
            </a:pPr>
            <a:r>
              <a:rPr lang="en-US" sz="1600" b="0" i="0" u="none" strike="noStrike">
                <a:solidFill>
                  <a:srgbClr val="CBD5E1"/>
                </a:solidFill>
                <a:latin typeface="Open Sans"/>
                <a:ea typeface="Open Sans"/>
                <a:cs typeface="Open Sans"/>
                <a:sym typeface="Open Sans"/>
              </a:rPr>
              <a:t>• Use diverse and representative datasets.</a:t>
            </a:r>
          </a:p>
        </p:txBody>
      </p:sp>
      <p:sp>
        <p:nvSpPr>
          <p:cNvPr id="6" name="AutoShape 6"/>
          <p:cNvSpPr/>
          <p:nvPr/>
        </p:nvSpPr>
        <p:spPr>
          <a:xfrm>
            <a:off x="1016000" y="6096000"/>
            <a:ext cx="6858000" cy="1651000"/>
          </a:xfrm>
          <a:prstGeom prst="roundRect">
            <a:avLst>
              <a:gd name="adj" fmla="val 4615"/>
            </a:avLst>
          </a:prstGeom>
          <a:solidFill>
            <a:srgbClr val="1E293B">
              <a:alpha val="100000"/>
            </a:srgbClr>
          </a:solidFill>
          <a:ln w="12700" cap="flat" cmpd="sng">
            <a:solidFill>
              <a:srgbClr val="94A3B8">
                <a:alpha val="30000"/>
              </a:srgbClr>
            </a:solidFill>
            <a:prstDash val="solid"/>
            <a:round/>
          </a:ln>
        </p:spPr>
        <p:txBody>
          <a:bodyPr vert="horz" wrap="square" lIns="304800" tIns="304800" rIns="304800" bIns="254000" rtlCol="0" anchor="ctr" anchorCtr="0">
            <a:normAutofit/>
          </a:bodyPr>
          <a:lstStyle/>
          <a:p>
            <a:pPr indent="0" algn="l">
              <a:lnSpc>
                <a:spcPct val="108333"/>
              </a:lnSpc>
              <a:spcBef>
                <a:spcPts val="400"/>
              </a:spcBef>
              <a:defRPr/>
            </a:pPr>
            <a:r>
              <a:rPr lang="en-US" sz="2000" b="1" i="0" u="none" strike="noStrike">
                <a:solidFill>
                  <a:srgbClr val="94A3B8"/>
                </a:solidFill>
                <a:latin typeface="Inter"/>
                <a:ea typeface="Inter"/>
                <a:cs typeface="Inter"/>
                <a:sym typeface="Inter"/>
              </a:rPr>
              <a:t>3. Data Preparation</a:t>
            </a:r>
            <a:endParaRPr lang="en-US" sz="1100"/>
          </a:p>
          <a:p>
            <a:pPr indent="0" algn="l">
              <a:lnSpc>
                <a:spcPct val="108333"/>
              </a:lnSpc>
              <a:spcBef>
                <a:spcPts val="1200"/>
              </a:spcBef>
            </a:pPr>
            <a:r>
              <a:rPr lang="en-US" sz="1600" b="0" i="0" u="none" strike="noStrike">
                <a:solidFill>
                  <a:srgbClr val="CBD5E1"/>
                </a:solidFill>
                <a:latin typeface="Open Sans"/>
                <a:ea typeface="Open Sans"/>
                <a:cs typeface="Open Sans"/>
                <a:sym typeface="Open Sans"/>
              </a:rPr>
              <a:t>• Remove biased or inaccurate records.</a:t>
            </a:r>
          </a:p>
          <a:p>
            <a:pPr indent="0" algn="l">
              <a:lnSpc>
                <a:spcPct val="108333"/>
              </a:lnSpc>
            </a:pPr>
            <a:r>
              <a:rPr lang="en-US" sz="1600" b="0" i="0" u="none" strike="noStrike">
                <a:solidFill>
                  <a:srgbClr val="CBD5E1"/>
                </a:solidFill>
                <a:latin typeface="Open Sans"/>
                <a:ea typeface="Open Sans"/>
                <a:cs typeface="Open Sans"/>
                <a:sym typeface="Open Sans"/>
              </a:rPr>
              <a:t>• Validate overall data quality.</a:t>
            </a:r>
          </a:p>
        </p:txBody>
      </p:sp>
      <p:sp>
        <p:nvSpPr>
          <p:cNvPr id="7" name="AutoShape 7"/>
          <p:cNvSpPr/>
          <p:nvPr/>
        </p:nvSpPr>
        <p:spPr>
          <a:xfrm>
            <a:off x="8382000" y="2286000"/>
            <a:ext cx="6858000" cy="1651000"/>
          </a:xfrm>
          <a:prstGeom prst="roundRect">
            <a:avLst>
              <a:gd name="adj" fmla="val 4615"/>
            </a:avLst>
          </a:prstGeom>
          <a:solidFill>
            <a:srgbClr val="1E293B">
              <a:alpha val="100000"/>
            </a:srgbClr>
          </a:solidFill>
          <a:ln w="12700" cap="flat" cmpd="sng">
            <a:solidFill>
              <a:srgbClr val="94A3B8">
                <a:alpha val="30000"/>
              </a:srgbClr>
            </a:solidFill>
            <a:prstDash val="solid"/>
            <a:round/>
          </a:ln>
        </p:spPr>
        <p:txBody>
          <a:bodyPr vert="horz" wrap="square" lIns="304800" tIns="304800" rIns="304800" bIns="254000" rtlCol="0" anchor="ctr" anchorCtr="0">
            <a:normAutofit/>
          </a:bodyPr>
          <a:lstStyle/>
          <a:p>
            <a:pPr indent="0" algn="l">
              <a:lnSpc>
                <a:spcPct val="108333"/>
              </a:lnSpc>
              <a:spcBef>
                <a:spcPts val="400"/>
              </a:spcBef>
              <a:defRPr/>
            </a:pPr>
            <a:r>
              <a:rPr lang="en-US" sz="2000" b="1" i="0" u="none" strike="noStrike">
                <a:solidFill>
                  <a:srgbClr val="94A3B8"/>
                </a:solidFill>
                <a:latin typeface="Inter"/>
                <a:ea typeface="Inter"/>
                <a:cs typeface="Inter"/>
                <a:sym typeface="Inter"/>
              </a:rPr>
              <a:t>4. Model Development</a:t>
            </a:r>
            <a:endParaRPr lang="en-US" sz="1100"/>
          </a:p>
          <a:p>
            <a:pPr indent="0" algn="l">
              <a:lnSpc>
                <a:spcPct val="108333"/>
              </a:lnSpc>
              <a:spcBef>
                <a:spcPts val="1200"/>
              </a:spcBef>
            </a:pPr>
            <a:r>
              <a:rPr lang="en-US" sz="1600" b="0" i="0" u="none" strike="noStrike">
                <a:solidFill>
                  <a:srgbClr val="CBD5E1"/>
                </a:solidFill>
                <a:latin typeface="Open Sans"/>
                <a:ea typeface="Open Sans"/>
                <a:cs typeface="Open Sans"/>
                <a:sym typeface="Open Sans"/>
              </a:rPr>
              <a:t>• Use interpretable algorithms.</a:t>
            </a:r>
          </a:p>
          <a:p>
            <a:pPr indent="0" algn="l">
              <a:lnSpc>
                <a:spcPct val="108333"/>
              </a:lnSpc>
            </a:pPr>
            <a:r>
              <a:rPr lang="en-US" sz="1600" b="0" i="0" u="none" strike="noStrike">
                <a:solidFill>
                  <a:srgbClr val="CBD5E1"/>
                </a:solidFill>
                <a:latin typeface="Open Sans"/>
                <a:ea typeface="Open Sans"/>
                <a:cs typeface="Open Sans"/>
                <a:sym typeface="Open Sans"/>
              </a:rPr>
              <a:t>• Conduct thorough fairness testing.</a:t>
            </a:r>
          </a:p>
        </p:txBody>
      </p:sp>
      <p:sp>
        <p:nvSpPr>
          <p:cNvPr id="8" name="AutoShape 8"/>
          <p:cNvSpPr/>
          <p:nvPr/>
        </p:nvSpPr>
        <p:spPr>
          <a:xfrm>
            <a:off x="8382000" y="4191000"/>
            <a:ext cx="6858000" cy="1651000"/>
          </a:xfrm>
          <a:prstGeom prst="roundRect">
            <a:avLst>
              <a:gd name="adj" fmla="val 4615"/>
            </a:avLst>
          </a:prstGeom>
          <a:solidFill>
            <a:srgbClr val="1E293B">
              <a:alpha val="100000"/>
            </a:srgbClr>
          </a:solidFill>
          <a:ln w="12700" cap="flat" cmpd="sng">
            <a:solidFill>
              <a:srgbClr val="94A3B8">
                <a:alpha val="30000"/>
              </a:srgbClr>
            </a:solidFill>
            <a:prstDash val="solid"/>
            <a:round/>
          </a:ln>
        </p:spPr>
        <p:txBody>
          <a:bodyPr vert="horz" wrap="square" lIns="304800" tIns="304800" rIns="304800" bIns="254000" rtlCol="0" anchor="ctr" anchorCtr="0">
            <a:normAutofit/>
          </a:bodyPr>
          <a:lstStyle/>
          <a:p>
            <a:pPr indent="0" algn="l">
              <a:lnSpc>
                <a:spcPct val="108333"/>
              </a:lnSpc>
              <a:spcBef>
                <a:spcPts val="400"/>
              </a:spcBef>
              <a:defRPr/>
            </a:pPr>
            <a:r>
              <a:rPr lang="en-US" sz="2000" b="1" i="0" u="none" strike="noStrike">
                <a:solidFill>
                  <a:srgbClr val="94A3B8"/>
                </a:solidFill>
                <a:latin typeface="Inter"/>
                <a:ea typeface="Inter"/>
                <a:cs typeface="Inter"/>
                <a:sym typeface="Inter"/>
              </a:rPr>
              <a:t>5. Evaluation &amp; Deployment</a:t>
            </a:r>
            <a:endParaRPr lang="en-US" sz="1100"/>
          </a:p>
          <a:p>
            <a:pPr indent="0" algn="l">
              <a:lnSpc>
                <a:spcPct val="108333"/>
              </a:lnSpc>
              <a:spcBef>
                <a:spcPts val="1200"/>
              </a:spcBef>
            </a:pPr>
            <a:r>
              <a:rPr lang="en-US" sz="1600" b="0" i="0" u="none" strike="noStrike">
                <a:solidFill>
                  <a:srgbClr val="CBD5E1"/>
                </a:solidFill>
                <a:latin typeface="Open Sans"/>
                <a:ea typeface="Open Sans"/>
                <a:cs typeface="Open Sans"/>
                <a:sym typeface="Open Sans"/>
              </a:rPr>
              <a:t>• Test accuracy across various patient groups.</a:t>
            </a:r>
          </a:p>
          <a:p>
            <a:pPr indent="0" algn="l">
              <a:lnSpc>
                <a:spcPct val="108333"/>
              </a:lnSpc>
            </a:pPr>
            <a:r>
              <a:rPr lang="en-US" sz="1600" b="0" i="0" u="none" strike="noStrike">
                <a:solidFill>
                  <a:srgbClr val="CBD5E1"/>
                </a:solidFill>
                <a:latin typeface="Open Sans"/>
                <a:ea typeface="Open Sans"/>
                <a:cs typeface="Open Sans"/>
                <a:sym typeface="Open Sans"/>
              </a:rPr>
              <a:t>• Keep healthcare professionals in the loop.</a:t>
            </a:r>
          </a:p>
        </p:txBody>
      </p:sp>
      <p:sp>
        <p:nvSpPr>
          <p:cNvPr id="9" name="AutoShape 9"/>
          <p:cNvSpPr/>
          <p:nvPr/>
        </p:nvSpPr>
        <p:spPr>
          <a:xfrm>
            <a:off x="8382000" y="6096000"/>
            <a:ext cx="6858000" cy="1651000"/>
          </a:xfrm>
          <a:prstGeom prst="roundRect">
            <a:avLst>
              <a:gd name="adj" fmla="val 4615"/>
            </a:avLst>
          </a:prstGeom>
          <a:solidFill>
            <a:srgbClr val="1E293B">
              <a:alpha val="100000"/>
            </a:srgbClr>
          </a:solidFill>
          <a:ln w="12700" cap="flat" cmpd="sng">
            <a:solidFill>
              <a:srgbClr val="94A3B8">
                <a:alpha val="30000"/>
              </a:srgbClr>
            </a:solidFill>
            <a:prstDash val="solid"/>
            <a:round/>
          </a:ln>
        </p:spPr>
        <p:txBody>
          <a:bodyPr vert="horz" wrap="square" lIns="304800" tIns="304800" rIns="304800" bIns="254000" rtlCol="0" anchor="ctr" anchorCtr="0">
            <a:normAutofit/>
          </a:bodyPr>
          <a:lstStyle/>
          <a:p>
            <a:pPr indent="0" algn="l">
              <a:lnSpc>
                <a:spcPct val="108333"/>
              </a:lnSpc>
              <a:spcBef>
                <a:spcPts val="400"/>
              </a:spcBef>
              <a:defRPr/>
            </a:pPr>
            <a:r>
              <a:rPr lang="en-US" sz="2000" b="1" i="0" u="none" strike="noStrike">
                <a:solidFill>
                  <a:srgbClr val="94A3B8"/>
                </a:solidFill>
                <a:latin typeface="Inter"/>
                <a:ea typeface="Inter"/>
                <a:cs typeface="Inter"/>
                <a:sym typeface="Inter"/>
              </a:rPr>
              <a:t>6. Monitoring</a:t>
            </a:r>
            <a:endParaRPr lang="en-US" sz="1100"/>
          </a:p>
          <a:p>
            <a:pPr indent="0" algn="l">
              <a:lnSpc>
                <a:spcPct val="108333"/>
              </a:lnSpc>
              <a:spcBef>
                <a:spcPts val="1200"/>
              </a:spcBef>
            </a:pPr>
            <a:r>
              <a:rPr lang="en-US" sz="1600" b="0" i="0" u="none" strike="noStrike">
                <a:solidFill>
                  <a:srgbClr val="CBD5E1"/>
                </a:solidFill>
                <a:latin typeface="Open Sans"/>
                <a:ea typeface="Open Sans"/>
                <a:cs typeface="Open Sans"/>
                <a:sym typeface="Open Sans"/>
              </a:rPr>
              <a:t>• Continuously monitor model performance.</a:t>
            </a:r>
          </a:p>
          <a:p>
            <a:pPr indent="0" algn="l">
              <a:lnSpc>
                <a:spcPct val="108333"/>
              </a:lnSpc>
            </a:pPr>
            <a:r>
              <a:rPr lang="en-US" sz="1600" b="0" i="0" u="none" strike="noStrike">
                <a:solidFill>
                  <a:srgbClr val="CBD5E1"/>
                </a:solidFill>
                <a:latin typeface="Open Sans"/>
                <a:ea typeface="Open Sans"/>
                <a:cs typeface="Open Sans"/>
                <a:sym typeface="Open Sans"/>
              </a:rPr>
              <a:t>• Detect bias and data drift over time.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4224000" cy="762000"/>
          </a:xfrm>
          <a:prstGeom prst="rect">
            <a:avLst/>
          </a:prstGeom>
          <a:noFill/>
          <a:ln w="16933" cap="flat" cmpd="sng">
            <a:noFill/>
            <a:prstDash val="solid"/>
            <a:round/>
          </a:ln>
        </p:spPr>
        <p:txBody>
          <a:bodyPr vert="horz" wrap="square" lIns="0" tIns="0" rIns="0" bIns="0" rtlCol="0" anchor="ctr" anchorCtr="0">
            <a:normAutofit/>
          </a:bodyPr>
          <a:lstStyle/>
          <a:p>
            <a:pPr indent="0" algn="l">
              <a:lnSpc>
                <a:spcPct val="108333"/>
              </a:lnSpc>
              <a:defRPr/>
            </a:pPr>
            <a:r>
              <a:rPr lang="en-US" sz="4400" b="1" i="0" u="none" strike="noStrike">
                <a:solidFill>
                  <a:srgbClr val="F8FAFC"/>
                </a:solidFill>
                <a:latin typeface="Inter"/>
                <a:ea typeface="Inter"/>
                <a:cs typeface="Inter"/>
                <a:sym typeface="Inter"/>
              </a:rPr>
              <a:t>Balancing Challenges and Opportunities</a:t>
            </a:r>
            <a:endParaRPr lang="en-US" sz="1100"/>
          </a:p>
        </p:txBody>
      </p:sp>
      <p:sp>
        <p:nvSpPr>
          <p:cNvPr id="3" name="AutoShape 3"/>
          <p:cNvSpPr/>
          <p:nvPr/>
        </p:nvSpPr>
        <p:spPr>
          <a:xfrm>
            <a:off x="1016000" y="1651000"/>
            <a:ext cx="14224000" cy="25400"/>
          </a:xfrm>
          <a:prstGeom prst="roundRect">
            <a:avLst>
              <a:gd name="adj" fmla="val 0"/>
            </a:avLst>
          </a:prstGeom>
          <a:solidFill>
            <a:srgbClr val="94A3B8">
              <a:alpha val="30000"/>
            </a:srgbClr>
          </a:solidFill>
          <a:ln w="25400" cap="flat" cmpd="sng">
            <a:noFill/>
            <a:prstDash val="solid"/>
            <a:round/>
          </a:ln>
        </p:spPr>
        <p:txBody>
          <a:bodyPr vert="horz" wrap="square" lIns="0" tIns="0" rIns="0" bIns="0" rtlCol="0" anchor="ctr" anchorCtr="0"/>
          <a:lstStyle/>
          <a:p>
            <a:pPr algn="ctr">
              <a:defRPr/>
            </a:pPr>
            <a:endParaRPr/>
          </a:p>
        </p:txBody>
      </p:sp>
      <p:sp>
        <p:nvSpPr>
          <p:cNvPr id="4" name="AutoShape 4"/>
          <p:cNvSpPr/>
          <p:nvPr/>
        </p:nvSpPr>
        <p:spPr>
          <a:xfrm>
            <a:off x="1524000" y="2159000"/>
            <a:ext cx="6096000" cy="6096000"/>
          </a:xfrm>
          <a:prstGeom prst="roundRect">
            <a:avLst>
              <a:gd name="adj" fmla="val 1666"/>
            </a:avLst>
          </a:prstGeom>
          <a:solidFill>
            <a:srgbClr val="1E293B">
              <a:alpha val="80000"/>
            </a:srgbClr>
          </a:solidFill>
          <a:ln w="12700" cap="flat" cmpd="sng">
            <a:solidFill>
              <a:srgbClr val="94A3B8">
                <a:alpha val="20000"/>
              </a:srgbClr>
            </a:solidFill>
            <a:prstDash val="solid"/>
            <a:round/>
          </a:ln>
          <a:effectLst>
            <a:outerShdw blurRad="152400" dist="50800" dir="2700000" algn="tl" rotWithShape="0">
              <a:srgbClr val="000000">
                <a:alpha val="20000"/>
              </a:srgbClr>
            </a:outerShdw>
          </a:effectLst>
        </p:spPr>
        <p:txBody>
          <a:bodyPr vert="horz" wrap="square" lIns="0" tIns="0" rIns="0" bIns="0" rtlCol="0" anchor="ctr" anchorCtr="0"/>
          <a:lstStyle/>
          <a:p>
            <a:pPr algn="ctr">
              <a:defRPr/>
            </a:pPr>
            <a:endParaRPr/>
          </a:p>
        </p:txBody>
      </p:sp>
      <p:sp>
        <p:nvSpPr>
          <p:cNvPr id="5" name="AutoShape 5"/>
          <p:cNvSpPr/>
          <p:nvPr/>
        </p:nvSpPr>
        <p:spPr>
          <a:xfrm>
            <a:off x="1524000" y="2159000"/>
            <a:ext cx="6096000" cy="889000"/>
          </a:xfrm>
          <a:prstGeom prst="roundRect">
            <a:avLst>
              <a:gd name="adj" fmla="val 11428"/>
            </a:avLst>
          </a:prstGeom>
          <a:solidFill>
            <a:srgbClr val="EF4444">
              <a:alpha val="15000"/>
            </a:srgbClr>
          </a:solidFill>
          <a:ln w="25400" cap="flat" cmpd="sng">
            <a:noFill/>
            <a:prstDash val="solid"/>
            <a:round/>
          </a:ln>
        </p:spPr>
        <p:txBody>
          <a:bodyPr vert="horz" wrap="square" lIns="0" tIns="254000" rIns="0" bIns="0" rtlCol="0" anchor="ctr" anchorCtr="0">
            <a:normAutofit/>
          </a:bodyPr>
          <a:lstStyle/>
          <a:p>
            <a:pPr indent="0" algn="ctr">
              <a:lnSpc>
                <a:spcPct val="125000"/>
              </a:lnSpc>
              <a:defRPr/>
            </a:pPr>
            <a:r>
              <a:rPr lang="en-US" sz="2400" b="1" i="0" u="none" strike="noStrike">
                <a:solidFill>
                  <a:srgbClr val="F87171"/>
                </a:solidFill>
                <a:latin typeface="Inter"/>
                <a:ea typeface="Inter"/>
                <a:cs typeface="Inter"/>
                <a:sym typeface="Inter"/>
              </a:rPr>
              <a:t>Challenges</a:t>
            </a:r>
            <a:endParaRPr lang="en-US" sz="1100"/>
          </a:p>
        </p:txBody>
      </p:sp>
      <p:sp>
        <p:nvSpPr>
          <p:cNvPr id="6" name="AutoShape 6"/>
          <p:cNvSpPr/>
          <p:nvPr/>
        </p:nvSpPr>
        <p:spPr>
          <a:xfrm>
            <a:off x="1905000" y="3429000"/>
            <a:ext cx="5334000" cy="4572000"/>
          </a:xfrm>
          <a:prstGeom prst="rect">
            <a:avLst/>
          </a:prstGeom>
          <a:noFill/>
          <a:ln w="16933" cap="flat" cmpd="sng">
            <a:noFill/>
            <a:prstDash val="solid"/>
            <a:round/>
          </a:ln>
        </p:spPr>
        <p:txBody>
          <a:bodyPr vert="horz" wrap="square" lIns="0" tIns="0" rIns="0" bIns="0" rtlCol="0" anchor="ctr" anchorCtr="0">
            <a:normAutofit/>
          </a:bodyPr>
          <a:lstStyle/>
          <a:p>
            <a:pPr indent="0" algn="l">
              <a:lnSpc>
                <a:spcPct val="125000"/>
              </a:lnSpc>
              <a:spcBef>
                <a:spcPts val="1000"/>
              </a:spcBef>
              <a:defRPr/>
            </a:pPr>
            <a:r>
              <a:rPr lang="en-US" sz="1800" b="1" i="0" u="none" strike="noStrike">
                <a:solidFill>
                  <a:srgbClr val="F8FAFC"/>
                </a:solidFill>
                <a:latin typeface="Inter"/>
                <a:ea typeface="Inter"/>
                <a:cs typeface="Inter"/>
                <a:sym typeface="Inter"/>
              </a:rPr>
              <a:t>Data Bias</a:t>
            </a:r>
            <a:endParaRPr lang="en-US" sz="1100"/>
          </a:p>
          <a:p>
            <a:pPr indent="0" algn="l">
              <a:lnSpc>
                <a:spcPct val="125000"/>
              </a:lnSpc>
            </a:pPr>
            <a:r>
              <a:rPr lang="en-US" sz="1600" b="0" i="0" u="none" strike="noStrike">
                <a:solidFill>
                  <a:srgbClr val="CBD5E1"/>
                </a:solidFill>
                <a:latin typeface="Open Sans"/>
                <a:ea typeface="Open Sans"/>
                <a:cs typeface="Open Sans"/>
                <a:sym typeface="Open Sans"/>
              </a:rPr>
              <a:t>Underrepresentation of some populations may affect predictions.</a:t>
            </a:r>
          </a:p>
          <a:p>
            <a:pPr indent="0" algn="l">
              <a:lnSpc>
                <a:spcPct val="125000"/>
              </a:lnSpc>
              <a:spcBef>
                <a:spcPts val="2400"/>
              </a:spcBef>
            </a:pPr>
            <a:r>
              <a:rPr lang="en-US" sz="1800" b="1" i="0" u="none" strike="noStrike">
                <a:solidFill>
                  <a:srgbClr val="F8FAFC"/>
                </a:solidFill>
                <a:latin typeface="Inter"/>
                <a:ea typeface="Inter"/>
                <a:cs typeface="Inter"/>
                <a:sym typeface="Inter"/>
              </a:rPr>
              <a:t>Privacy Concerns</a:t>
            </a:r>
          </a:p>
          <a:p>
            <a:pPr indent="0" algn="l">
              <a:lnSpc>
                <a:spcPct val="125000"/>
              </a:lnSpc>
            </a:pPr>
            <a:r>
              <a:rPr lang="en-US" sz="1600" b="0" i="0" u="none" strike="noStrike">
                <a:solidFill>
                  <a:srgbClr val="CBD5E1"/>
                </a:solidFill>
                <a:latin typeface="Open Sans"/>
                <a:ea typeface="Open Sans"/>
                <a:cs typeface="Open Sans"/>
                <a:sym typeface="Open Sans"/>
              </a:rPr>
              <a:t>Healthcare data is highly sensitive.</a:t>
            </a:r>
          </a:p>
          <a:p>
            <a:pPr indent="0" algn="l">
              <a:lnSpc>
                <a:spcPct val="125000"/>
              </a:lnSpc>
              <a:spcBef>
                <a:spcPts val="2400"/>
              </a:spcBef>
            </a:pPr>
            <a:r>
              <a:rPr lang="en-US" sz="1800" b="1" i="0" u="none" strike="noStrike">
                <a:solidFill>
                  <a:srgbClr val="F8FAFC"/>
                </a:solidFill>
                <a:latin typeface="Inter"/>
                <a:ea typeface="Inter"/>
                <a:cs typeface="Inter"/>
                <a:sym typeface="Inter"/>
              </a:rPr>
              <a:t>Explainability</a:t>
            </a:r>
          </a:p>
          <a:p>
            <a:pPr indent="0" algn="l">
              <a:lnSpc>
                <a:spcPct val="125000"/>
              </a:lnSpc>
            </a:pPr>
            <a:r>
              <a:rPr lang="en-US" sz="1600" b="0" i="0" u="none" strike="noStrike">
                <a:solidFill>
                  <a:srgbClr val="CBD5E1"/>
                </a:solidFill>
                <a:latin typeface="Open Sans"/>
                <a:ea typeface="Open Sans"/>
                <a:cs typeface="Open Sans"/>
                <a:sym typeface="Open Sans"/>
              </a:rPr>
              <a:t>Complex models may be difficult for clinicians to understand.</a:t>
            </a:r>
          </a:p>
          <a:p>
            <a:pPr indent="0" algn="l">
              <a:lnSpc>
                <a:spcPct val="125000"/>
              </a:lnSpc>
              <a:spcBef>
                <a:spcPts val="2400"/>
              </a:spcBef>
            </a:pPr>
            <a:r>
              <a:rPr lang="en-US" sz="1800" b="1" i="0" u="none" strike="noStrike">
                <a:solidFill>
                  <a:srgbClr val="F8FAFC"/>
                </a:solidFill>
                <a:latin typeface="Inter"/>
                <a:ea typeface="Inter"/>
                <a:cs typeface="Inter"/>
                <a:sym typeface="Inter"/>
              </a:rPr>
              <a:t>Regulatory Compliance</a:t>
            </a:r>
          </a:p>
          <a:p>
            <a:pPr indent="0" algn="l">
              <a:lnSpc>
                <a:spcPct val="125000"/>
              </a:lnSpc>
            </a:pPr>
            <a:r>
              <a:rPr lang="en-US" sz="1600" b="0" i="0" u="none" strike="noStrike">
                <a:solidFill>
                  <a:srgbClr val="CBD5E1"/>
                </a:solidFill>
                <a:latin typeface="Open Sans"/>
                <a:ea typeface="Open Sans"/>
                <a:cs typeface="Open Sans"/>
                <a:sym typeface="Open Sans"/>
              </a:rPr>
              <a:t>Must comply with healthcare and data protection regulations.</a:t>
            </a:r>
          </a:p>
        </p:txBody>
      </p:sp>
      <p:sp>
        <p:nvSpPr>
          <p:cNvPr id="7" name="AutoShape 7"/>
          <p:cNvSpPr/>
          <p:nvPr/>
        </p:nvSpPr>
        <p:spPr>
          <a:xfrm>
            <a:off x="8636000" y="2159000"/>
            <a:ext cx="6096000" cy="6096000"/>
          </a:xfrm>
          <a:prstGeom prst="roundRect">
            <a:avLst>
              <a:gd name="adj" fmla="val 1666"/>
            </a:avLst>
          </a:prstGeom>
          <a:solidFill>
            <a:srgbClr val="1E293B">
              <a:alpha val="80000"/>
            </a:srgbClr>
          </a:solidFill>
          <a:ln w="12700" cap="flat" cmpd="sng">
            <a:solidFill>
              <a:srgbClr val="94A3B8">
                <a:alpha val="20000"/>
              </a:srgbClr>
            </a:solidFill>
            <a:prstDash val="solid"/>
            <a:round/>
          </a:ln>
          <a:effectLst>
            <a:outerShdw blurRad="152400" dist="50800" dir="2700000" algn="tl" rotWithShape="0">
              <a:srgbClr val="000000">
                <a:alpha val="20000"/>
              </a:srgbClr>
            </a:outerShdw>
          </a:effectLst>
        </p:spPr>
        <p:txBody>
          <a:bodyPr vert="horz" wrap="square" lIns="0" tIns="0" rIns="0" bIns="0" rtlCol="0" anchor="ctr" anchorCtr="0"/>
          <a:lstStyle/>
          <a:p>
            <a:pPr algn="ctr">
              <a:defRPr/>
            </a:pPr>
            <a:endParaRPr/>
          </a:p>
        </p:txBody>
      </p:sp>
      <p:sp>
        <p:nvSpPr>
          <p:cNvPr id="8" name="AutoShape 8"/>
          <p:cNvSpPr/>
          <p:nvPr/>
        </p:nvSpPr>
        <p:spPr>
          <a:xfrm>
            <a:off x="8636000" y="2159000"/>
            <a:ext cx="6096000" cy="889000"/>
          </a:xfrm>
          <a:prstGeom prst="roundRect">
            <a:avLst>
              <a:gd name="adj" fmla="val 11428"/>
            </a:avLst>
          </a:prstGeom>
          <a:solidFill>
            <a:srgbClr val="22C55E">
              <a:alpha val="15000"/>
            </a:srgbClr>
          </a:solidFill>
          <a:ln w="25400" cap="flat" cmpd="sng">
            <a:noFill/>
            <a:prstDash val="solid"/>
            <a:round/>
          </a:ln>
        </p:spPr>
        <p:txBody>
          <a:bodyPr vert="horz" wrap="square" lIns="0" tIns="254000" rIns="0" bIns="0" rtlCol="0" anchor="ctr" anchorCtr="0">
            <a:normAutofit/>
          </a:bodyPr>
          <a:lstStyle/>
          <a:p>
            <a:pPr indent="0" algn="ctr">
              <a:lnSpc>
                <a:spcPct val="125000"/>
              </a:lnSpc>
              <a:defRPr/>
            </a:pPr>
            <a:r>
              <a:rPr lang="en-US" sz="2400" b="1" i="0" u="none" strike="noStrike">
                <a:solidFill>
                  <a:srgbClr val="4ADE80"/>
                </a:solidFill>
                <a:latin typeface="Inter"/>
                <a:ea typeface="Inter"/>
                <a:cs typeface="Inter"/>
                <a:sym typeface="Inter"/>
              </a:rPr>
              <a:t>Opportunities</a:t>
            </a:r>
            <a:endParaRPr lang="en-US" sz="1100"/>
          </a:p>
        </p:txBody>
      </p:sp>
      <p:sp>
        <p:nvSpPr>
          <p:cNvPr id="9" name="AutoShape 9"/>
          <p:cNvSpPr/>
          <p:nvPr/>
        </p:nvSpPr>
        <p:spPr>
          <a:xfrm>
            <a:off x="9017000" y="3429000"/>
            <a:ext cx="5334000" cy="4572000"/>
          </a:xfrm>
          <a:prstGeom prst="rect">
            <a:avLst/>
          </a:prstGeom>
          <a:noFill/>
          <a:ln w="16933" cap="flat" cmpd="sng">
            <a:noFill/>
            <a:prstDash val="solid"/>
            <a:round/>
          </a:ln>
        </p:spPr>
        <p:txBody>
          <a:bodyPr vert="horz" wrap="square" lIns="0" tIns="0" rIns="0" bIns="0" rtlCol="0" anchor="ctr" anchorCtr="0">
            <a:normAutofit/>
          </a:bodyPr>
          <a:lstStyle/>
          <a:p>
            <a:pPr indent="0" algn="l">
              <a:lnSpc>
                <a:spcPct val="125000"/>
              </a:lnSpc>
              <a:spcBef>
                <a:spcPts val="1000"/>
              </a:spcBef>
              <a:defRPr/>
            </a:pPr>
            <a:r>
              <a:rPr lang="en-US" sz="1800" b="1" i="0" u="none" strike="noStrike">
                <a:solidFill>
                  <a:srgbClr val="F8FAFC"/>
                </a:solidFill>
                <a:latin typeface="Inter"/>
                <a:ea typeface="Inter"/>
                <a:cs typeface="Inter"/>
                <a:sym typeface="Inter"/>
              </a:rPr>
              <a:t>Improved Patient Outcomes</a:t>
            </a:r>
            <a:endParaRPr lang="en-US" sz="1100"/>
          </a:p>
          <a:p>
            <a:pPr indent="0" algn="l">
              <a:lnSpc>
                <a:spcPct val="125000"/>
              </a:lnSpc>
            </a:pPr>
            <a:r>
              <a:rPr lang="en-US" sz="1600" b="0" i="0" u="none" strike="noStrike">
                <a:solidFill>
                  <a:srgbClr val="CBD5E1"/>
                </a:solidFill>
                <a:latin typeface="Open Sans"/>
                <a:ea typeface="Open Sans"/>
                <a:cs typeface="Open Sans"/>
                <a:sym typeface="Open Sans"/>
              </a:rPr>
              <a:t>Earlier diagnosis and treatment.</a:t>
            </a:r>
          </a:p>
          <a:p>
            <a:pPr indent="0" algn="l">
              <a:lnSpc>
                <a:spcPct val="125000"/>
              </a:lnSpc>
              <a:spcBef>
                <a:spcPts val="2400"/>
              </a:spcBef>
            </a:pPr>
            <a:r>
              <a:rPr lang="en-US" sz="1800" b="1" i="0" u="none" strike="noStrike">
                <a:solidFill>
                  <a:srgbClr val="F8FAFC"/>
                </a:solidFill>
                <a:latin typeface="Inter"/>
                <a:ea typeface="Inter"/>
                <a:cs typeface="Inter"/>
                <a:sym typeface="Inter"/>
              </a:rPr>
              <a:t>Better Healthcare Decisions</a:t>
            </a:r>
          </a:p>
          <a:p>
            <a:pPr indent="0" algn="l">
              <a:lnSpc>
                <a:spcPct val="125000"/>
              </a:lnSpc>
            </a:pPr>
            <a:r>
              <a:rPr lang="en-US" sz="1600" b="0" i="0" u="none" strike="noStrike">
                <a:solidFill>
                  <a:srgbClr val="CBD5E1"/>
                </a:solidFill>
                <a:latin typeface="Open Sans"/>
                <a:ea typeface="Open Sans"/>
                <a:cs typeface="Open Sans"/>
                <a:sym typeface="Open Sans"/>
              </a:rPr>
              <a:t>Data-driven support for clinicians.</a:t>
            </a:r>
          </a:p>
          <a:p>
            <a:pPr indent="0" algn="l">
              <a:lnSpc>
                <a:spcPct val="125000"/>
              </a:lnSpc>
              <a:spcBef>
                <a:spcPts val="2400"/>
              </a:spcBef>
            </a:pPr>
            <a:r>
              <a:rPr lang="en-US" sz="1800" b="1" i="0" u="none" strike="noStrike">
                <a:solidFill>
                  <a:srgbClr val="F8FAFC"/>
                </a:solidFill>
                <a:latin typeface="Inter"/>
                <a:ea typeface="Inter"/>
                <a:cs typeface="Inter"/>
                <a:sym typeface="Inter"/>
              </a:rPr>
              <a:t>Increased Efficiency</a:t>
            </a:r>
          </a:p>
          <a:p>
            <a:pPr indent="0" algn="l">
              <a:lnSpc>
                <a:spcPct val="125000"/>
              </a:lnSpc>
            </a:pPr>
            <a:r>
              <a:rPr lang="en-US" sz="1600" b="0" i="0" u="none" strike="noStrike">
                <a:solidFill>
                  <a:srgbClr val="CBD5E1"/>
                </a:solidFill>
                <a:latin typeface="Open Sans"/>
                <a:ea typeface="Open Sans"/>
                <a:cs typeface="Open Sans"/>
                <a:sym typeface="Open Sans"/>
              </a:rPr>
              <a:t>Faster screening and diagnosis processes.</a:t>
            </a:r>
          </a:p>
          <a:p>
            <a:pPr indent="0" algn="l">
              <a:lnSpc>
                <a:spcPct val="125000"/>
              </a:lnSpc>
              <a:spcBef>
                <a:spcPts val="2400"/>
              </a:spcBef>
            </a:pPr>
            <a:r>
              <a:rPr lang="en-US" sz="1800" b="1" i="0" u="none" strike="noStrike">
                <a:solidFill>
                  <a:srgbClr val="F8FAFC"/>
                </a:solidFill>
                <a:latin typeface="Inter"/>
                <a:ea typeface="Inter"/>
                <a:cs typeface="Inter"/>
                <a:sym typeface="Inter"/>
              </a:rPr>
              <a:t>Greater Trust</a:t>
            </a:r>
          </a:p>
          <a:p>
            <a:pPr indent="0" algn="l">
              <a:lnSpc>
                <a:spcPct val="125000"/>
              </a:lnSpc>
            </a:pPr>
            <a:r>
              <a:rPr lang="en-US" sz="1600" b="0" i="0" u="none" strike="noStrike">
                <a:solidFill>
                  <a:srgbClr val="CBD5E1"/>
                </a:solidFill>
                <a:latin typeface="Open Sans"/>
                <a:ea typeface="Open Sans"/>
                <a:cs typeface="Open Sans"/>
                <a:sym typeface="Open Sans"/>
              </a:rPr>
              <a:t>Ethical and transparent AI systems improve public confidence.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4224000" cy="762000"/>
          </a:xfrm>
          <a:prstGeom prst="rect">
            <a:avLst/>
          </a:prstGeom>
          <a:noFill/>
          <a:ln w="16933" cap="flat" cmpd="sng">
            <a:noFill/>
            <a:prstDash val="solid"/>
            <a:round/>
          </a:ln>
        </p:spPr>
        <p:txBody>
          <a:bodyPr vert="horz" wrap="square" lIns="0" tIns="0" rIns="0" bIns="0" rtlCol="0" anchor="ctr" anchorCtr="0">
            <a:normAutofit/>
          </a:bodyPr>
          <a:lstStyle/>
          <a:p>
            <a:pPr indent="0" algn="l">
              <a:lnSpc>
                <a:spcPct val="108333"/>
              </a:lnSpc>
              <a:defRPr/>
            </a:pPr>
            <a:r>
              <a:rPr lang="en-US" sz="4400" b="1" i="0" u="none" strike="noStrike">
                <a:solidFill>
                  <a:srgbClr val="F8FAFC"/>
                </a:solidFill>
                <a:latin typeface="Inter"/>
                <a:ea typeface="Inter"/>
                <a:cs typeface="Inter"/>
                <a:sym typeface="Inter"/>
              </a:rPr>
              <a:t>Conclusion and Sources</a:t>
            </a:r>
            <a:endParaRPr lang="en-US" sz="1100"/>
          </a:p>
        </p:txBody>
      </p:sp>
      <p:sp>
        <p:nvSpPr>
          <p:cNvPr id="3" name="AutoShape 3"/>
          <p:cNvSpPr/>
          <p:nvPr/>
        </p:nvSpPr>
        <p:spPr>
          <a:xfrm>
            <a:off x="1016000" y="1651000"/>
            <a:ext cx="14224000" cy="25400"/>
          </a:xfrm>
          <a:prstGeom prst="roundRect">
            <a:avLst>
              <a:gd name="adj" fmla="val 0"/>
            </a:avLst>
          </a:prstGeom>
          <a:solidFill>
            <a:srgbClr val="94A3B8">
              <a:alpha val="30000"/>
            </a:srgbClr>
          </a:solidFill>
          <a:ln w="25400" cap="flat" cmpd="sng">
            <a:noFill/>
            <a:prstDash val="solid"/>
            <a:round/>
          </a:ln>
        </p:spPr>
        <p:txBody>
          <a:bodyPr vert="horz" wrap="square" lIns="0" tIns="0" rIns="0" bIns="0" rtlCol="0" anchor="ctr" anchorCtr="0"/>
          <a:lstStyle/>
          <a:p>
            <a:pPr algn="ctr">
              <a:defRPr/>
            </a:pPr>
            <a:endParaRPr/>
          </a:p>
        </p:txBody>
      </p:sp>
      <p:sp>
        <p:nvSpPr>
          <p:cNvPr id="4" name="AutoShape 4"/>
          <p:cNvSpPr/>
          <p:nvPr/>
        </p:nvSpPr>
        <p:spPr>
          <a:xfrm>
            <a:off x="1016000" y="2159000"/>
            <a:ext cx="6858000" cy="2540000"/>
          </a:xfrm>
          <a:prstGeom prst="rect">
            <a:avLst/>
          </a:prstGeom>
          <a:noFill/>
          <a:ln w="16933" cap="flat" cmpd="sng">
            <a:noFill/>
            <a:prstDash val="solid"/>
            <a:round/>
          </a:ln>
        </p:spPr>
        <p:txBody>
          <a:bodyPr vert="horz" wrap="square" lIns="0" tIns="0" rIns="0" bIns="0" rtlCol="0" anchor="ctr" anchorCtr="0">
            <a:normAutofit/>
          </a:bodyPr>
          <a:lstStyle/>
          <a:p>
            <a:pPr indent="0" algn="l">
              <a:lnSpc>
                <a:spcPct val="108333"/>
              </a:lnSpc>
              <a:spcBef>
                <a:spcPts val="1000"/>
              </a:spcBef>
              <a:defRPr/>
            </a:pPr>
            <a:r>
              <a:rPr lang="en-US" sz="1800" b="0" i="0" u="none" strike="noStrike">
                <a:solidFill>
                  <a:srgbClr val="CBD5E1"/>
                </a:solidFill>
                <a:latin typeface="Open Sans"/>
                <a:ea typeface="Open Sans"/>
                <a:cs typeface="Open Sans"/>
                <a:sym typeface="Open Sans"/>
              </a:rPr>
              <a:t>Responsible AI principles must be integrated throughout the healthcare AI development life cycle.</a:t>
            </a:r>
            <a:endParaRPr lang="en-US" sz="1100"/>
          </a:p>
          <a:p>
            <a:pPr indent="0" algn="l">
              <a:lnSpc>
                <a:spcPct val="108333"/>
              </a:lnSpc>
              <a:spcBef>
                <a:spcPts val="2000"/>
              </a:spcBef>
            </a:pPr>
            <a:r>
              <a:rPr lang="en-US" sz="1800" b="1" i="0" u="none" strike="noStrike">
                <a:solidFill>
                  <a:srgbClr val="94A3B8"/>
                </a:solidFill>
                <a:latin typeface="Open Sans"/>
                <a:ea typeface="Open Sans"/>
                <a:cs typeface="Open Sans"/>
                <a:sym typeface="Open Sans"/>
              </a:rPr>
              <a:t>Key Benefits:</a:t>
            </a:r>
          </a:p>
          <a:p>
            <a:pPr indent="0" algn="l">
              <a:lnSpc>
                <a:spcPct val="108333"/>
              </a:lnSpc>
            </a:pPr>
            <a:r>
              <a:rPr lang="en-US" sz="1800" b="0" i="0" u="none" strike="noStrike">
                <a:solidFill>
                  <a:srgbClr val="CBD5E1"/>
                </a:solidFill>
                <a:latin typeface="Open Sans"/>
                <a:ea typeface="Open Sans"/>
                <a:cs typeface="Open Sans"/>
                <a:sym typeface="Open Sans"/>
              </a:rPr>
              <a:t>• Fairer healthcare decisions</a:t>
            </a:r>
          </a:p>
          <a:p>
            <a:pPr indent="0" algn="l">
              <a:lnSpc>
                <a:spcPct val="108333"/>
              </a:lnSpc>
            </a:pPr>
            <a:r>
              <a:rPr lang="en-US" sz="1800" b="0" i="0" u="none" strike="noStrike">
                <a:solidFill>
                  <a:srgbClr val="CBD5E1"/>
                </a:solidFill>
                <a:latin typeface="Open Sans"/>
                <a:ea typeface="Open Sans"/>
                <a:cs typeface="Open Sans"/>
                <a:sym typeface="Open Sans"/>
              </a:rPr>
              <a:t>• Improved patient safety</a:t>
            </a:r>
          </a:p>
          <a:p>
            <a:pPr indent="0" algn="l">
              <a:lnSpc>
                <a:spcPct val="108333"/>
              </a:lnSpc>
            </a:pPr>
            <a:r>
              <a:rPr lang="en-US" sz="1800" b="0" i="0" u="none" strike="noStrike">
                <a:solidFill>
                  <a:srgbClr val="CBD5E1"/>
                </a:solidFill>
                <a:latin typeface="Open Sans"/>
                <a:ea typeface="Open Sans"/>
                <a:cs typeface="Open Sans"/>
                <a:sym typeface="Open Sans"/>
              </a:rPr>
              <a:t>• Better transparency</a:t>
            </a:r>
          </a:p>
          <a:p>
            <a:pPr indent="0" algn="l">
              <a:lnSpc>
                <a:spcPct val="108333"/>
              </a:lnSpc>
            </a:pPr>
            <a:r>
              <a:rPr lang="en-US" sz="1800" b="0" i="0" u="none" strike="noStrike">
                <a:solidFill>
                  <a:srgbClr val="CBD5E1"/>
                </a:solidFill>
                <a:latin typeface="Open Sans"/>
                <a:ea typeface="Open Sans"/>
                <a:cs typeface="Open Sans"/>
                <a:sym typeface="Open Sans"/>
              </a:rPr>
              <a:t>• Increased trust in AI systems</a:t>
            </a:r>
          </a:p>
        </p:txBody>
      </p:sp>
      <p:pic>
        <p:nvPicPr>
          <p:cNvPr id="5" name="Picture 5"/>
          <p:cNvPicPr>
            <a:picLocks noChangeAspect="1"/>
          </p:cNvPicPr>
          <p:nvPr/>
        </p:nvPicPr>
        <p:blipFill>
          <a:blip r:embed="rId3"/>
          <a:srcRect t="31333" b="31333"/>
          <a:stretch>
            <a:fillRect/>
          </a:stretch>
        </p:blipFill>
        <p:spPr>
          <a:xfrm>
            <a:off x="1016000" y="4953000"/>
            <a:ext cx="6858000" cy="3429000"/>
          </a:xfrm>
          <a:prstGeom prst="roundRect">
            <a:avLst>
              <a:gd name="adj" fmla="val 2962"/>
            </a:avLst>
          </a:prstGeom>
          <a:noFill/>
          <a:ln w="25400" cap="flat" cmpd="sng">
            <a:noFill/>
            <a:prstDash val="solid"/>
            <a:round/>
          </a:ln>
          <a:effectLst>
            <a:outerShdw blurRad="152400" dist="50800" dir="2700000" algn="tl" rotWithShape="0">
              <a:srgbClr val="000000">
                <a:alpha val="20000"/>
              </a:srgbClr>
            </a:outerShdw>
          </a:effectLst>
        </p:spPr>
      </p:pic>
      <p:sp>
        <p:nvSpPr>
          <p:cNvPr id="6" name="AutoShape 6"/>
          <p:cNvSpPr/>
          <p:nvPr/>
        </p:nvSpPr>
        <p:spPr>
          <a:xfrm>
            <a:off x="8636000" y="2159000"/>
            <a:ext cx="6604000" cy="6223000"/>
          </a:xfrm>
          <a:prstGeom prst="roundRect">
            <a:avLst>
              <a:gd name="adj" fmla="val 1632"/>
            </a:avLst>
          </a:prstGeom>
          <a:solidFill>
            <a:srgbClr val="1E293B">
              <a:alpha val="80000"/>
            </a:srgbClr>
          </a:solidFill>
          <a:ln w="12700" cap="flat" cmpd="sng">
            <a:solidFill>
              <a:srgbClr val="94A3B8">
                <a:alpha val="20000"/>
              </a:srgbClr>
            </a:solidFill>
            <a:prstDash val="solid"/>
            <a:round/>
          </a:ln>
          <a:effectLst>
            <a:outerShdw blurRad="152400" dist="50800" dir="2700000" algn="tl" rotWithShape="0">
              <a:srgbClr val="000000">
                <a:alpha val="20000"/>
              </a:srgbClr>
            </a:outerShdw>
          </a:effectLst>
        </p:spPr>
        <p:txBody>
          <a:bodyPr vert="horz" wrap="square" lIns="508000" tIns="508000" rIns="508000" bIns="0" rtlCol="0" anchor="ctr" anchorCtr="0">
            <a:normAutofit/>
          </a:bodyPr>
          <a:lstStyle/>
          <a:p>
            <a:pPr indent="0" algn="l">
              <a:lnSpc>
                <a:spcPct val="133333"/>
              </a:lnSpc>
              <a:spcBef>
                <a:spcPts val="1000"/>
              </a:spcBef>
              <a:defRPr/>
            </a:pPr>
            <a:r>
              <a:rPr lang="en-US" sz="2400" b="1" i="0" u="none" strike="noStrike">
                <a:solidFill>
                  <a:srgbClr val="94A3B8"/>
                </a:solidFill>
                <a:latin typeface="Inter"/>
                <a:ea typeface="Inter"/>
                <a:cs typeface="Inter"/>
                <a:sym typeface="Inter"/>
              </a:rPr>
              <a:t>Key Sources</a:t>
            </a:r>
            <a:endParaRPr lang="en-US" sz="1100"/>
          </a:p>
          <a:p>
            <a:pPr indent="0" algn="l">
              <a:lnSpc>
                <a:spcPct val="133333"/>
              </a:lnSpc>
              <a:spcBef>
                <a:spcPts val="3000"/>
              </a:spcBef>
            </a:pPr>
            <a:r>
              <a:rPr lang="en-US" sz="1800" b="0" i="0" u="none" strike="noStrike">
                <a:solidFill>
                  <a:srgbClr val="CBD5E1"/>
                </a:solidFill>
                <a:latin typeface="Open Sans"/>
                <a:ea typeface="Open Sans"/>
                <a:cs typeface="Open Sans"/>
                <a:sym typeface="Open Sans"/>
              </a:rPr>
              <a:t>• National Institute of Standards and Technology (NIST AI RMF)</a:t>
            </a:r>
          </a:p>
          <a:p>
            <a:pPr indent="0" algn="l">
              <a:lnSpc>
                <a:spcPct val="133333"/>
              </a:lnSpc>
              <a:spcBef>
                <a:spcPts val="1600"/>
              </a:spcBef>
            </a:pPr>
            <a:r>
              <a:rPr lang="en-US" sz="1800" b="0" i="0" u="none" strike="noStrike">
                <a:solidFill>
                  <a:srgbClr val="CBD5E1"/>
                </a:solidFill>
                <a:latin typeface="Open Sans"/>
                <a:ea typeface="Open Sans"/>
                <a:cs typeface="Open Sans"/>
                <a:sym typeface="Open Sans"/>
              </a:rPr>
              <a:t>• Organisation for Economic Co-operation and Development</a:t>
            </a:r>
          </a:p>
          <a:p>
            <a:pPr indent="0" algn="l">
              <a:lnSpc>
                <a:spcPct val="133333"/>
              </a:lnSpc>
              <a:spcBef>
                <a:spcPts val="1600"/>
              </a:spcBef>
            </a:pPr>
            <a:r>
              <a:rPr lang="en-US" sz="1800" b="0" i="0" u="none" strike="noStrike">
                <a:solidFill>
                  <a:srgbClr val="CBD5E1"/>
                </a:solidFill>
                <a:latin typeface="Open Sans"/>
                <a:ea typeface="Open Sans"/>
                <a:cs typeface="Open Sans"/>
                <a:sym typeface="Open Sans"/>
              </a:rPr>
              <a:t>• United Nations Educational, Scientific and Cultural Organization</a:t>
            </a:r>
          </a:p>
          <a:p>
            <a:pPr indent="0" algn="l">
              <a:lnSpc>
                <a:spcPct val="133333"/>
              </a:lnSpc>
              <a:spcBef>
                <a:spcPts val="1600"/>
              </a:spcBef>
            </a:pPr>
            <a:r>
              <a:rPr lang="en-US" sz="1800" b="0" i="0" u="none" strike="noStrike">
                <a:solidFill>
                  <a:srgbClr val="CBD5E1"/>
                </a:solidFill>
                <a:latin typeface="Open Sans"/>
                <a:ea typeface="Open Sans"/>
                <a:cs typeface="Open Sans"/>
                <a:sym typeface="Open Sans"/>
              </a:rPr>
              <a:t>• Microsoft</a:t>
            </a:r>
          </a:p>
          <a:p>
            <a:pPr indent="0" algn="l">
              <a:lnSpc>
                <a:spcPct val="133333"/>
              </a:lnSpc>
              <a:spcBef>
                <a:spcPts val="1600"/>
              </a:spcBef>
            </a:pPr>
            <a:r>
              <a:rPr lang="en-US" sz="1800" b="0" i="0" u="none" strike="noStrike">
                <a:solidFill>
                  <a:srgbClr val="CBD5E1"/>
                </a:solidFill>
                <a:latin typeface="Open Sans"/>
                <a:ea typeface="Open Sans"/>
                <a:cs typeface="Open Sans"/>
                <a:sym typeface="Open Sans"/>
              </a:rPr>
              <a:t>• IBM</a:t>
            </a:r>
          </a:p>
          <a:p>
            <a:pPr indent="0" algn="l">
              <a:lnSpc>
                <a:spcPct val="133333"/>
              </a:lnSpc>
              <a:spcBef>
                <a:spcPts val="1600"/>
              </a:spcBef>
            </a:pPr>
            <a:r>
              <a:rPr lang="en-US" sz="1800" b="0" i="0" u="none" strike="noStrike">
                <a:solidFill>
                  <a:srgbClr val="CBD5E1"/>
                </a:solidFill>
                <a:latin typeface="Open Sans"/>
                <a:ea typeface="Open Sans"/>
                <a:cs typeface="Open Sans"/>
                <a:sym typeface="Open Sans"/>
              </a:rPr>
              <a:t>• Course Textbook and Lecture Notes</a:t>
            </a: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1132</Words>
  <Application>Microsoft Office PowerPoint</Application>
  <PresentationFormat>Custom</PresentationFormat>
  <Paragraphs>133</Paragraphs>
  <Slides>6</Slides>
  <Notes>6</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6</vt:i4>
      </vt:variant>
    </vt:vector>
  </HeadingPairs>
  <TitlesOfParts>
    <vt:vector size="11" baseType="lpstr">
      <vt:lpstr>Arial</vt:lpstr>
      <vt:lpstr>Inter</vt:lpstr>
      <vt:lpstr>Open Sans</vt:lpstr>
      <vt:lpstr>Office 主题​​</vt:lpstr>
      <vt:lpstr>默认主题</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kazeem ajibola</cp:lastModifiedBy>
  <cp:revision>2</cp:revision>
  <dcterms:modified xsi:type="dcterms:W3CDTF">2026-06-05T18:03:37Z</dcterms:modified>
</cp:coreProperties>
</file>